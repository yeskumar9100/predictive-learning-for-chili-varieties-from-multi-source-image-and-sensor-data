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80" r:id="rId15"/>
    <p:sldId id="279" r:id="rId16"/>
    <p:sldId id="270" r:id="rId17"/>
    <p:sldId id="273" r:id="rId18"/>
    <p:sldId id="272" r:id="rId19"/>
    <p:sldId id="281" r:id="rId20"/>
    <p:sldId id="282" r:id="rId21"/>
    <p:sldId id="275" r:id="rId22"/>
    <p:sldId id="276" r:id="rId23"/>
    <p:sldId id="277" r:id="rId24"/>
    <p:sldId id="278" r:id="rId25"/>
    <p:sldId id="267" r:id="rId26"/>
  </p:sldIdLst>
  <p:sldSz cx="12192000" cy="6858000"/>
  <p:notesSz cx="6858000" cy="99456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97" d="100"/>
          <a:sy n="97" d="100"/>
        </p:scale>
        <p:origin x="96"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4/8/2026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337820" y="2036445"/>
            <a:ext cx="116205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8" name="TextBox 5"/>
          <p:cNvSpPr txBox="1"/>
          <p:nvPr/>
        </p:nvSpPr>
        <p:spPr>
          <a:xfrm>
            <a:off x="3334003" y="2189460"/>
            <a:ext cx="5523994" cy="630555"/>
          </a:xfrm>
          <a:prstGeom prst="rect">
            <a:avLst/>
          </a:prstGeom>
          <a:noFill/>
        </p:spPr>
        <p:txBody>
          <a:bodyPr wrap="square">
            <a:noAutofit/>
          </a:bodyPr>
          <a:lstStyle/>
          <a:p>
            <a:pPr algn="ctr"/>
            <a:r>
              <a:rPr lang="en-IN" sz="3600" dirty="0">
                <a:latin typeface="Times New Roman" panose="02020603050405020304" pitchFamily="18" charset="0"/>
                <a:cs typeface="Times New Roman" panose="02020603050405020304" pitchFamily="18" charset="0"/>
              </a:rPr>
              <a:t>Department of CSE(AI-ML)</a:t>
            </a:r>
            <a:endParaRPr lang="en-US" altLang="en-IN" sz="3600" dirty="0">
              <a:latin typeface="Times New Roman" panose="02020603050405020304" pitchFamily="18" charset="0"/>
              <a:cs typeface="Times New Roman" panose="02020603050405020304" pitchFamily="18" charset="0"/>
            </a:endParaRPr>
          </a:p>
        </p:txBody>
      </p:sp>
      <p:sp>
        <p:nvSpPr>
          <p:cNvPr id="11" name="TextBox 7"/>
          <p:cNvSpPr txBox="1"/>
          <p:nvPr/>
        </p:nvSpPr>
        <p:spPr>
          <a:xfrm>
            <a:off x="4084808" y="2820015"/>
            <a:ext cx="4126524" cy="83099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Industrial Oriented Mini Project</a:t>
            </a:r>
          </a:p>
          <a:p>
            <a:pPr algn="ctr"/>
            <a:r>
              <a:rPr lang="en-IN" sz="2400" dirty="0">
                <a:latin typeface="Times New Roman" panose="02020603050405020304" pitchFamily="18" charset="0"/>
                <a:cs typeface="Times New Roman" panose="02020603050405020304" pitchFamily="18" charset="0"/>
              </a:rPr>
              <a:t>on</a:t>
            </a:r>
          </a:p>
        </p:txBody>
      </p:sp>
      <p:sp>
        <p:nvSpPr>
          <p:cNvPr id="12" name="TextBox 9"/>
          <p:cNvSpPr txBox="1"/>
          <p:nvPr/>
        </p:nvSpPr>
        <p:spPr>
          <a:xfrm>
            <a:off x="2055495" y="3612752"/>
            <a:ext cx="8606790" cy="1315205"/>
          </a:xfrm>
          <a:prstGeom prst="rect">
            <a:avLst/>
          </a:prstGeom>
          <a:noFill/>
        </p:spPr>
        <p:txBody>
          <a:bodyPr wrap="square">
            <a:noAutofit/>
          </a:bodyPr>
          <a:lstStyle/>
          <a:p>
            <a:pPr algn="ctr"/>
            <a:r>
              <a:rPr lang="en-US" sz="2800" dirty="0">
                <a:latin typeface="Times New Roman" panose="02020603050405020304" pitchFamily="18" charset="0"/>
                <a:cs typeface="Times New Roman" panose="02020603050405020304" pitchFamily="18" charset="0"/>
              </a:rPr>
              <a:t>TITLE: PREDICTIVE LEARNING FOR CHILI VARIETIES FROM MULTI-SOURCE IMAGE AND SENSOR DATA</a:t>
            </a:r>
            <a:endParaRPr lang="en-IN" sz="2800" dirty="0">
              <a:latin typeface="Times New Roman" panose="02020603050405020304" pitchFamily="18" charset="0"/>
              <a:cs typeface="Times New Roman" panose="02020603050405020304" pitchFamily="18" charset="0"/>
            </a:endParaRPr>
          </a:p>
        </p:txBody>
      </p:sp>
      <p:sp>
        <p:nvSpPr>
          <p:cNvPr id="13" name="TextBox 1"/>
          <p:cNvSpPr txBox="1"/>
          <p:nvPr/>
        </p:nvSpPr>
        <p:spPr>
          <a:xfrm>
            <a:off x="642122" y="5275625"/>
            <a:ext cx="4775452" cy="132207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Under the Guidance of :</a:t>
            </a:r>
          </a:p>
          <a:p>
            <a:r>
              <a:rPr lang="en-US" sz="2000" dirty="0">
                <a:latin typeface="Times New Roman" panose="02020603050405020304" pitchFamily="18" charset="0"/>
                <a:cs typeface="Times New Roman" panose="02020603050405020304" pitchFamily="18" charset="0"/>
              </a:rPr>
              <a:t>Mrs. P. ASHWINI, </a:t>
            </a:r>
            <a:r>
              <a:rPr lang="en-US" sz="1400" dirty="0" err="1">
                <a:latin typeface="Times New Roman" panose="02020603050405020304" pitchFamily="18" charset="0"/>
                <a:cs typeface="Times New Roman" panose="02020603050405020304" pitchFamily="18" charset="0"/>
              </a:rPr>
              <a:t>M.Tech</a:t>
            </a:r>
            <a:r>
              <a:rPr lang="en-US" sz="14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Assistant Professor,</a:t>
            </a:r>
          </a:p>
          <a:p>
            <a:r>
              <a:rPr lang="en-US" sz="2000" dirty="0">
                <a:latin typeface="Times New Roman" panose="02020603050405020304" pitchFamily="18" charset="0"/>
                <a:cs typeface="Times New Roman" panose="02020603050405020304" pitchFamily="18" charset="0"/>
              </a:rPr>
              <a:t>CSE(AI&amp;ML), MREM</a:t>
            </a:r>
            <a:endParaRPr lang="en-IN" sz="2000" dirty="0">
              <a:latin typeface="Times New Roman" panose="02020603050405020304" pitchFamily="18" charset="0"/>
              <a:cs typeface="Times New Roman" panose="02020603050405020304" pitchFamily="18" charset="0"/>
            </a:endParaRPr>
          </a:p>
        </p:txBody>
      </p:sp>
      <p:sp>
        <p:nvSpPr>
          <p:cNvPr id="14" name="TextBox 11"/>
          <p:cNvSpPr txBox="1"/>
          <p:nvPr/>
        </p:nvSpPr>
        <p:spPr>
          <a:xfrm>
            <a:off x="7596554" y="4966479"/>
            <a:ext cx="3557549"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Presented By : Batch no-06</a:t>
            </a:r>
          </a:p>
          <a:p>
            <a:r>
              <a:rPr lang="en-US" sz="2000" dirty="0">
                <a:latin typeface="Times New Roman" panose="02020603050405020304" pitchFamily="18" charset="0"/>
                <a:cs typeface="Times New Roman" panose="02020603050405020304" pitchFamily="18" charset="0"/>
              </a:rPr>
              <a:t>K. Kusuma          (23UJ1A6673)</a:t>
            </a:r>
          </a:p>
          <a:p>
            <a:r>
              <a:rPr lang="en-US" sz="2000" dirty="0">
                <a:latin typeface="Times New Roman" panose="02020603050405020304" pitchFamily="18" charset="0"/>
                <a:cs typeface="Times New Roman" panose="02020603050405020304" pitchFamily="18" charset="0"/>
              </a:rPr>
              <a:t>M. Sravanthi       (23UJ1A6678)</a:t>
            </a:r>
          </a:p>
          <a:p>
            <a:r>
              <a:rPr lang="en-US" sz="2000" dirty="0">
                <a:latin typeface="Times New Roman" panose="02020603050405020304" pitchFamily="18" charset="0"/>
                <a:cs typeface="Times New Roman" panose="02020603050405020304" pitchFamily="18" charset="0"/>
              </a:rPr>
              <a:t>P. Yes Kumar      (23UJ1A6687)</a:t>
            </a:r>
          </a:p>
          <a:p>
            <a:r>
              <a:rPr lang="en-US" sz="2000" dirty="0">
                <a:latin typeface="Times New Roman" panose="02020603050405020304" pitchFamily="18" charset="0"/>
                <a:cs typeface="Times New Roman" panose="02020603050405020304" pitchFamily="18" charset="0"/>
              </a:rPr>
              <a:t>R. Gandhi Naik  (23UJ1A6693)</a:t>
            </a:r>
            <a:endParaRPr lang="en-IN"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9A9066A-D400-FB2B-81F5-5565417E08BD}"/>
              </a:ext>
            </a:extLst>
          </p:cNvPr>
          <p:cNvPicPr>
            <a:picLocks noChangeAspect="1"/>
          </p:cNvPicPr>
          <p:nvPr/>
        </p:nvPicPr>
        <p:blipFill>
          <a:blip r:embed="rId2"/>
          <a:stretch>
            <a:fillRect/>
          </a:stretch>
        </p:blipFill>
        <p:spPr>
          <a:xfrm>
            <a:off x="520519" y="351661"/>
            <a:ext cx="10795000" cy="12884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atin typeface="Times New Roman" panose="02020603050405020304" pitchFamily="18" charset="0"/>
                <a:cs typeface="Times New Roman" panose="02020603050405020304" pitchFamily="18" charset="0"/>
                <a:sym typeface="+mn-ea"/>
              </a:rPr>
              <a:t>Table of Content</a:t>
            </a:r>
            <a:endParaRPr lang="en-US"/>
          </a:p>
        </p:txBody>
      </p:sp>
      <p:sp>
        <p:nvSpPr>
          <p:cNvPr id="3" name="Content Placeholder 2"/>
          <p:cNvSpPr>
            <a:spLocks noGrp="1"/>
          </p:cNvSpPr>
          <p:nvPr>
            <p:ph idx="1"/>
          </p:nvPr>
        </p:nvSpPr>
        <p:spPr/>
        <p:txBody>
          <a:bodyPr numCol="2">
            <a:normAutofit lnSpcReduction="10000"/>
          </a:bodyPr>
          <a:lstStyle/>
          <a:p>
            <a:pPr marL="0" indent="0">
              <a:buNone/>
            </a:pPr>
            <a:r>
              <a:rPr lang="en-US" dirty="0">
                <a:latin typeface="Times New Roman" panose="02020603050405020304" pitchFamily="18" charset="0"/>
                <a:cs typeface="Times New Roman" panose="02020603050405020304" pitchFamily="18" charset="0"/>
                <a:sym typeface="+mn-ea"/>
              </a:rPr>
              <a:t>1) Abstract</a:t>
            </a:r>
            <a:endParaRPr lang="en-US" dirty="0">
              <a:latin typeface="Times New Roman" panose="02020603050405020304" pitchFamily="18" charset="0"/>
              <a:cs typeface="Times New Roman" panose="02020603050405020304" pitchFamily="18" charset="0"/>
            </a:endParaRPr>
          </a:p>
          <a:p>
            <a:pPr marL="0" indent="0">
              <a:buNone/>
            </a:pPr>
            <a:r>
              <a:rPr lang="en-US" altLang="en-IN" dirty="0">
                <a:latin typeface="Times New Roman" panose="02020603050405020304" pitchFamily="18" charset="0"/>
                <a:cs typeface="Times New Roman" panose="02020603050405020304" pitchFamily="18" charset="0"/>
                <a:sym typeface="+mn-ea"/>
              </a:rPr>
              <a:t>2) Introduction</a:t>
            </a:r>
            <a:endParaRPr lang="en-US" altLang="en-IN" dirty="0">
              <a:latin typeface="Times New Roman" panose="02020603050405020304" pitchFamily="18" charset="0"/>
              <a:cs typeface="Times New Roman" panose="02020603050405020304" pitchFamily="18" charset="0"/>
            </a:endParaRPr>
          </a:p>
          <a:p>
            <a:pPr marL="0" indent="0">
              <a:buNone/>
            </a:pPr>
            <a:r>
              <a:rPr lang="en-US" altLang="en-IN" dirty="0">
                <a:latin typeface="Times New Roman" panose="02020603050405020304" pitchFamily="18" charset="0"/>
                <a:cs typeface="Times New Roman" panose="02020603050405020304" pitchFamily="18" charset="0"/>
                <a:sym typeface="+mn-ea"/>
              </a:rPr>
              <a:t>3) Motivation</a:t>
            </a:r>
            <a:endParaRPr lang="en-US" altLang="en-IN" dirty="0">
              <a:latin typeface="Times New Roman" panose="02020603050405020304" pitchFamily="18" charset="0"/>
              <a:cs typeface="Times New Roman" panose="02020603050405020304" pitchFamily="18" charset="0"/>
            </a:endParaRPr>
          </a:p>
          <a:p>
            <a:pPr marL="0" indent="0">
              <a:buNone/>
            </a:pPr>
            <a:r>
              <a:rPr lang="en-US" altLang="en-IN" dirty="0">
                <a:latin typeface="Times New Roman" panose="02020603050405020304" pitchFamily="18" charset="0"/>
                <a:cs typeface="Times New Roman" panose="02020603050405020304" pitchFamily="18" charset="0"/>
                <a:sym typeface="+mn-ea"/>
              </a:rPr>
              <a:t>4) Problem Definition</a:t>
            </a:r>
            <a:endParaRPr lang="en-US" altLang="en-IN" dirty="0">
              <a:latin typeface="Times New Roman" panose="02020603050405020304" pitchFamily="18" charset="0"/>
              <a:cs typeface="Times New Roman" panose="02020603050405020304" pitchFamily="18" charset="0"/>
            </a:endParaRPr>
          </a:p>
          <a:p>
            <a:pPr marL="0" indent="0">
              <a:buNone/>
            </a:pPr>
            <a:r>
              <a:rPr lang="en-US" altLang="en-IN" dirty="0">
                <a:latin typeface="Times New Roman" panose="02020603050405020304" pitchFamily="18" charset="0"/>
                <a:cs typeface="Times New Roman" panose="02020603050405020304" pitchFamily="18" charset="0"/>
                <a:sym typeface="+mn-ea"/>
              </a:rPr>
              <a:t>5) Literature surveys</a:t>
            </a:r>
            <a:endParaRPr lang="en-US" altLang="en-IN" dirty="0">
              <a:latin typeface="Times New Roman" panose="02020603050405020304" pitchFamily="18" charset="0"/>
              <a:cs typeface="Times New Roman" panose="02020603050405020304" pitchFamily="18" charset="0"/>
            </a:endParaRPr>
          </a:p>
          <a:p>
            <a:pPr marL="0" indent="0">
              <a:buNone/>
            </a:pPr>
            <a:r>
              <a:rPr lang="en-US" altLang="en-IN" dirty="0">
                <a:latin typeface="Times New Roman" panose="02020603050405020304" pitchFamily="18" charset="0"/>
                <a:cs typeface="Times New Roman" panose="02020603050405020304" pitchFamily="18" charset="0"/>
                <a:sym typeface="+mn-ea"/>
              </a:rPr>
              <a:t>6) Existing Methodology</a:t>
            </a:r>
            <a:endParaRPr lang="en-US" altLang="en-IN" dirty="0">
              <a:latin typeface="Times New Roman" panose="02020603050405020304" pitchFamily="18" charset="0"/>
              <a:cs typeface="Times New Roman" panose="02020603050405020304" pitchFamily="18" charset="0"/>
            </a:endParaRPr>
          </a:p>
          <a:p>
            <a:pPr marL="0" indent="0">
              <a:buNone/>
            </a:pPr>
            <a:r>
              <a:rPr lang="en-US" altLang="en-IN" dirty="0">
                <a:latin typeface="Times New Roman" panose="02020603050405020304" pitchFamily="18" charset="0"/>
                <a:cs typeface="Times New Roman" panose="02020603050405020304" pitchFamily="18" charset="0"/>
                <a:sym typeface="+mn-ea"/>
              </a:rPr>
              <a:t>7) Drawbacks of existing system</a:t>
            </a:r>
            <a:endParaRPr lang="en-US" altLang="en-IN" dirty="0">
              <a:latin typeface="Times New Roman" panose="02020603050405020304" pitchFamily="18" charset="0"/>
              <a:cs typeface="Times New Roman" panose="02020603050405020304" pitchFamily="18" charset="0"/>
            </a:endParaRPr>
          </a:p>
          <a:p>
            <a:pPr marL="0" indent="0">
              <a:buNone/>
            </a:pPr>
            <a:r>
              <a:rPr lang="en-US" altLang="en-IN" dirty="0">
                <a:latin typeface="Times New Roman" panose="02020603050405020304" pitchFamily="18" charset="0"/>
                <a:cs typeface="Times New Roman" panose="02020603050405020304" pitchFamily="18" charset="0"/>
                <a:sym typeface="+mn-ea"/>
              </a:rPr>
              <a:t>8) Software Details</a:t>
            </a:r>
            <a:endParaRPr lang="en-US" altLang="en-IN" dirty="0">
              <a:latin typeface="Times New Roman" panose="02020603050405020304" pitchFamily="18" charset="0"/>
              <a:cs typeface="Times New Roman" panose="02020603050405020304" pitchFamily="18" charset="0"/>
            </a:endParaRPr>
          </a:p>
          <a:p>
            <a:pPr marL="0" indent="0">
              <a:buNone/>
            </a:pPr>
            <a:r>
              <a:rPr lang="en-US" altLang="en-IN" dirty="0">
                <a:latin typeface="Times New Roman" panose="02020603050405020304" pitchFamily="18" charset="0"/>
                <a:cs typeface="Times New Roman" panose="02020603050405020304" pitchFamily="18" charset="0"/>
                <a:sym typeface="+mn-ea"/>
              </a:rPr>
              <a:t>9) Research Gaps</a:t>
            </a:r>
          </a:p>
          <a:p>
            <a:pPr marL="0" indent="0">
              <a:buNone/>
            </a:pPr>
            <a:r>
              <a:rPr lang="en-US" dirty="0">
                <a:latin typeface="Times New Roman" panose="02020603050405020304" pitchFamily="18" charset="0"/>
                <a:cs typeface="Times New Roman" panose="02020603050405020304" pitchFamily="18" charset="0"/>
              </a:rPr>
              <a:t>10) Proposed Methodology</a:t>
            </a:r>
          </a:p>
          <a:p>
            <a:pPr marL="0" indent="0">
              <a:buNone/>
            </a:pPr>
            <a:r>
              <a:rPr lang="en-US" dirty="0">
                <a:latin typeface="Times New Roman" panose="02020603050405020304" pitchFamily="18" charset="0"/>
                <a:cs typeface="Times New Roman" panose="02020603050405020304" pitchFamily="18" charset="0"/>
              </a:rPr>
              <a:t>11) Sample Code</a:t>
            </a:r>
          </a:p>
          <a:p>
            <a:pPr marL="0" indent="0">
              <a:buNone/>
            </a:pPr>
            <a:r>
              <a:rPr lang="en-US" dirty="0">
                <a:latin typeface="Times New Roman" panose="02020603050405020304" pitchFamily="18" charset="0"/>
                <a:cs typeface="Times New Roman" panose="02020603050405020304" pitchFamily="18" charset="0"/>
              </a:rPr>
              <a:t>12) Packages / Libraries</a:t>
            </a:r>
          </a:p>
          <a:p>
            <a:pPr marL="0" indent="0">
              <a:buNone/>
            </a:pPr>
            <a:r>
              <a:rPr lang="en-US" dirty="0">
                <a:latin typeface="Times New Roman" panose="02020603050405020304" pitchFamily="18" charset="0"/>
                <a:cs typeface="Times New Roman" panose="02020603050405020304" pitchFamily="18" charset="0"/>
              </a:rPr>
              <a:t>13) Data Sets</a:t>
            </a:r>
          </a:p>
          <a:p>
            <a:pPr marL="0" indent="0">
              <a:buNone/>
            </a:pPr>
            <a:r>
              <a:rPr lang="en-US" dirty="0">
                <a:latin typeface="Times New Roman" panose="02020603050405020304" pitchFamily="18" charset="0"/>
                <a:cs typeface="Times New Roman" panose="02020603050405020304" pitchFamily="18" charset="0"/>
              </a:rPr>
              <a:t>14) Result Analysis</a:t>
            </a:r>
          </a:p>
          <a:p>
            <a:pPr marL="0" indent="0">
              <a:buNone/>
            </a:pPr>
            <a:r>
              <a:rPr lang="en-US" dirty="0">
                <a:latin typeface="Times New Roman" panose="02020603050405020304" pitchFamily="18" charset="0"/>
                <a:cs typeface="Times New Roman" panose="02020603050405020304" pitchFamily="18" charset="0"/>
              </a:rPr>
              <a:t>15) Advantages and Application</a:t>
            </a:r>
          </a:p>
          <a:p>
            <a:pPr marL="0" indent="0">
              <a:buNone/>
            </a:pPr>
            <a:r>
              <a:rPr lang="en-US" dirty="0">
                <a:latin typeface="Times New Roman" panose="02020603050405020304" pitchFamily="18" charset="0"/>
                <a:cs typeface="Times New Roman" panose="02020603050405020304" pitchFamily="18" charset="0"/>
              </a:rPr>
              <a:t>16) Conclusion</a:t>
            </a:r>
          </a:p>
          <a:p>
            <a:pPr marL="0" indent="0">
              <a:buNone/>
            </a:pPr>
            <a:r>
              <a:rPr lang="en-US" dirty="0">
                <a:latin typeface="Times New Roman" panose="02020603050405020304" pitchFamily="18" charset="0"/>
                <a:cs typeface="Times New Roman" panose="02020603050405020304" pitchFamily="18" charset="0"/>
              </a:rPr>
              <a:t>17) Future Scope</a:t>
            </a:r>
          </a:p>
          <a:p>
            <a:pPr marL="0" indent="0">
              <a:buNone/>
            </a:pPr>
            <a:r>
              <a:rPr lang="en-US" dirty="0">
                <a:latin typeface="Times New Roman" panose="02020603050405020304" pitchFamily="18" charset="0"/>
                <a:cs typeface="Times New Roman" panose="02020603050405020304" pitchFamily="18" charset="0"/>
              </a:rPr>
              <a:t>18) Reference</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sym typeface="+mn-ea"/>
              </a:rPr>
              <a:t>Abstract</a:t>
            </a:r>
            <a:endParaRPr lang="en-US" dirty="0"/>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Chili cultivation includes many varieties with different appearances and environmental needs. Correct identification is important for better crop planning and yield estimation. Traditional methods depend on manual observation and expert knowledge, which are time-consuming, subjective, and not reliable in early stages. Many existing digital systems use only image data or only sensor data. Because of this, they cannot give accurate results or work well for large-scale farming.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IN" dirty="0">
                <a:latin typeface="Times New Roman" panose="02020603050405020304" pitchFamily="18" charset="0"/>
                <a:cs typeface="Times New Roman" panose="02020603050405020304" pitchFamily="18" charset="0"/>
                <a:sym typeface="+mn-ea"/>
              </a:rPr>
              <a:t>Introduction</a:t>
            </a:r>
            <a:endParaRPr lang="en-US" dirty="0"/>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Chili cultivation plays a crucial role in the global agricultural economy, requiring rigorous quality control and variety identification to meet processing and export standards. In recent years, the integration of digital imaging devices across farms, markets, and storage units has generated vast amounts of multi-source visual data. However, translating this raw data into actionable agricultural intelligence remains a complex challenge. This project proposes a predictive learning system designed to automate the classification of distinct chili varieties and assess their physical health. By leveraging advanced machine learning algorithms and image processing techniques, the system aims to replace subjective manual inspections with a highly accurate, data-driven framework, ultimately enhancing decision-making in modern agricultural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IN" dirty="0">
                <a:latin typeface="Times New Roman" panose="02020603050405020304" pitchFamily="18" charset="0"/>
                <a:cs typeface="Times New Roman" panose="02020603050405020304" pitchFamily="18" charset="0"/>
                <a:sym typeface="+mn-ea"/>
              </a:rPr>
              <a:t>Motivation</a:t>
            </a:r>
            <a:endParaRPr lang="en-US" dirty="0"/>
          </a:p>
        </p:txBody>
      </p:sp>
      <p:sp>
        <p:nvSpPr>
          <p:cNvPr id="3" name="Content Placeholder 2"/>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Economic Impact:</a:t>
            </a:r>
            <a:r>
              <a:rPr lang="en-US" sz="2400" dirty="0">
                <a:latin typeface="Times New Roman" panose="02020603050405020304" pitchFamily="18" charset="0"/>
                <a:cs typeface="Times New Roman" panose="02020603050405020304" pitchFamily="18" charset="0"/>
              </a:rPr>
              <a:t> Accurate sorting of chilies by variety and health ensures better market pricing and reduces post-harvest losses.</a:t>
            </a:r>
          </a:p>
          <a:p>
            <a:pPr algn="just"/>
            <a:r>
              <a:rPr lang="en-US" sz="2400" b="1" dirty="0">
                <a:latin typeface="Times New Roman" panose="02020603050405020304" pitchFamily="18" charset="0"/>
                <a:cs typeface="Times New Roman" panose="02020603050405020304" pitchFamily="18" charset="0"/>
              </a:rPr>
              <a:t>Technological Advancement:</a:t>
            </a:r>
            <a:r>
              <a:rPr lang="en-US" sz="2400" dirty="0">
                <a:latin typeface="Times New Roman" panose="02020603050405020304" pitchFamily="18" charset="0"/>
                <a:cs typeface="Times New Roman" panose="02020603050405020304" pitchFamily="18" charset="0"/>
              </a:rPr>
              <a:t> The increasing availability of digital sensors and cameras on farms provides an untapped resource for automated crop monitoring.</a:t>
            </a:r>
          </a:p>
          <a:p>
            <a:pPr algn="just"/>
            <a:r>
              <a:rPr lang="en-US" sz="2400" b="1" dirty="0">
                <a:latin typeface="Times New Roman" panose="02020603050405020304" pitchFamily="18" charset="0"/>
                <a:cs typeface="Times New Roman" panose="02020603050405020304" pitchFamily="18" charset="0"/>
              </a:rPr>
              <a:t>Empowering Farmers:</a:t>
            </a:r>
            <a:r>
              <a:rPr lang="en-US" sz="2400" dirty="0">
                <a:latin typeface="Times New Roman" panose="02020603050405020304" pitchFamily="18" charset="0"/>
                <a:cs typeface="Times New Roman" panose="02020603050405020304" pitchFamily="18" charset="0"/>
              </a:rPr>
              <a:t> Providing an accessible, automated tool reduces the reliance on scarce human experts for quality control.</a:t>
            </a:r>
          </a:p>
          <a:p>
            <a:pPr algn="just"/>
            <a:r>
              <a:rPr lang="en-US" sz="2400" b="1" dirty="0">
                <a:latin typeface="Times New Roman" panose="02020603050405020304" pitchFamily="18" charset="0"/>
                <a:cs typeface="Times New Roman" panose="02020603050405020304" pitchFamily="18" charset="0"/>
              </a:rPr>
              <a:t>Efficiency at Scale:</a:t>
            </a:r>
            <a:r>
              <a:rPr lang="en-US" sz="2400" dirty="0">
                <a:latin typeface="Times New Roman" panose="02020603050405020304" pitchFamily="18" charset="0"/>
                <a:cs typeface="Times New Roman" panose="02020603050405020304" pitchFamily="18" charset="0"/>
              </a:rPr>
              <a:t> Modern Agri-based industries require high-throughput processing systems that manual labor simply cannot sustain.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IN" dirty="0">
                <a:latin typeface="Times New Roman" panose="02020603050405020304" pitchFamily="18" charset="0"/>
                <a:cs typeface="Times New Roman" panose="02020603050405020304" pitchFamily="18" charset="0"/>
                <a:sym typeface="+mn-ea"/>
              </a:rPr>
              <a:t>Problem Definition</a:t>
            </a:r>
            <a:endParaRPr lang="en-US"/>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core problem lies in the inability to accurately, consistently, and rapidly classify different chili varieties and quality states from multi-source digital images, which often suffer from varying lighting conditions, backgrounds, and angles. To solve this, the project aims to develop a robust predictive machine learning model capable of automatically extracting complex morphological features—such as texture, shape, and color—to classify these images with high precision and minimal computational overhead, replacing subjective manual methods.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IN" dirty="0">
                <a:latin typeface="Times New Roman" panose="02020603050405020304" pitchFamily="18" charset="0"/>
                <a:cs typeface="Times New Roman" panose="02020603050405020304" pitchFamily="18" charset="0"/>
                <a:sym typeface="+mn-ea"/>
              </a:rPr>
              <a:t>Literature surveys</a:t>
            </a:r>
            <a:endParaRPr lang="en-US"/>
          </a:p>
        </p:txBody>
      </p:sp>
      <p:graphicFrame>
        <p:nvGraphicFramePr>
          <p:cNvPr id="4" name="Content Placeholder 3">
            <a:extLst>
              <a:ext uri="{FF2B5EF4-FFF2-40B4-BE49-F238E27FC236}">
                <a16:creationId xmlns:a16="http://schemas.microsoft.com/office/drawing/2014/main" id="{5DBEDD23-FE41-04D8-412F-035917555A5D}"/>
              </a:ext>
            </a:extLst>
          </p:cNvPr>
          <p:cNvGraphicFramePr>
            <a:graphicFrameLocks noGrp="1"/>
          </p:cNvGraphicFramePr>
          <p:nvPr>
            <p:ph idx="1"/>
          </p:nvPr>
        </p:nvGraphicFramePr>
        <p:xfrm>
          <a:off x="838200" y="1690688"/>
          <a:ext cx="10733310" cy="4315974"/>
        </p:xfrm>
        <a:graphic>
          <a:graphicData uri="http://schemas.openxmlformats.org/drawingml/2006/table">
            <a:tbl>
              <a:tblPr>
                <a:tableStyleId>{69C7853C-536D-4A76-A0AE-DD22124D55A5}</a:tableStyleId>
              </a:tblPr>
              <a:tblGrid>
                <a:gridCol w="423041">
                  <a:extLst>
                    <a:ext uri="{9D8B030D-6E8A-4147-A177-3AD203B41FA5}">
                      <a16:colId xmlns:a16="http://schemas.microsoft.com/office/drawing/2014/main" val="1263187457"/>
                    </a:ext>
                  </a:extLst>
                </a:gridCol>
                <a:gridCol w="717331">
                  <a:extLst>
                    <a:ext uri="{9D8B030D-6E8A-4147-A177-3AD203B41FA5}">
                      <a16:colId xmlns:a16="http://schemas.microsoft.com/office/drawing/2014/main" val="3823696807"/>
                    </a:ext>
                  </a:extLst>
                </a:gridCol>
                <a:gridCol w="1576552">
                  <a:extLst>
                    <a:ext uri="{9D8B030D-6E8A-4147-A177-3AD203B41FA5}">
                      <a16:colId xmlns:a16="http://schemas.microsoft.com/office/drawing/2014/main" val="3157257423"/>
                    </a:ext>
                  </a:extLst>
                </a:gridCol>
                <a:gridCol w="1702676">
                  <a:extLst>
                    <a:ext uri="{9D8B030D-6E8A-4147-A177-3AD203B41FA5}">
                      <a16:colId xmlns:a16="http://schemas.microsoft.com/office/drawing/2014/main" val="1335702488"/>
                    </a:ext>
                  </a:extLst>
                </a:gridCol>
                <a:gridCol w="2025869">
                  <a:extLst>
                    <a:ext uri="{9D8B030D-6E8A-4147-A177-3AD203B41FA5}">
                      <a16:colId xmlns:a16="http://schemas.microsoft.com/office/drawing/2014/main" val="955128995"/>
                    </a:ext>
                  </a:extLst>
                </a:gridCol>
                <a:gridCol w="2144110">
                  <a:extLst>
                    <a:ext uri="{9D8B030D-6E8A-4147-A177-3AD203B41FA5}">
                      <a16:colId xmlns:a16="http://schemas.microsoft.com/office/drawing/2014/main" val="2172887346"/>
                    </a:ext>
                  </a:extLst>
                </a:gridCol>
                <a:gridCol w="2143731">
                  <a:extLst>
                    <a:ext uri="{9D8B030D-6E8A-4147-A177-3AD203B41FA5}">
                      <a16:colId xmlns:a16="http://schemas.microsoft.com/office/drawing/2014/main" val="2425104875"/>
                    </a:ext>
                  </a:extLst>
                </a:gridCol>
              </a:tblGrid>
              <a:tr h="370460">
                <a:tc>
                  <a:txBody>
                    <a:bodyPr/>
                    <a:lstStyle/>
                    <a:p>
                      <a:pPr algn="ctr">
                        <a:buNone/>
                      </a:pPr>
                      <a:r>
                        <a:rPr lang="en-IN" sz="1200" b="1" dirty="0"/>
                        <a:t>Year</a:t>
                      </a:r>
                      <a:endParaRPr lang="en-IN" sz="1200" b="1"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b="1" dirty="0"/>
                        <a:t>Author</a:t>
                      </a:r>
                      <a:endParaRPr lang="en-IN" sz="1200" b="1"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b="1" dirty="0"/>
                        <a:t>Title</a:t>
                      </a:r>
                      <a:endParaRPr lang="en-IN" sz="1200" b="1"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b="1" dirty="0"/>
                        <a:t>Existing System</a:t>
                      </a:r>
                      <a:endParaRPr lang="en-IN" sz="1200" b="1"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b="1" dirty="0"/>
                        <a:t>Proposed System</a:t>
                      </a:r>
                      <a:endParaRPr lang="en-IN" sz="1200" b="1"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b="1" dirty="0"/>
                        <a:t>Key Contribution</a:t>
                      </a:r>
                      <a:endParaRPr lang="en-IN" sz="1200" b="1"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b="1" dirty="0"/>
                        <a:t>Drawbacks/Limitations</a:t>
                      </a:r>
                      <a:endParaRPr lang="en-IN" sz="1200" b="1"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195349"/>
                  </a:ext>
                </a:extLst>
              </a:tr>
              <a:tr h="889440">
                <a:tc>
                  <a:txBody>
                    <a:bodyPr/>
                    <a:lstStyle/>
                    <a:p>
                      <a:pPr algn="ctr">
                        <a:buNone/>
                      </a:pPr>
                      <a:r>
                        <a:rPr lang="en-IN" sz="1200" b="1" dirty="0"/>
                        <a:t>2018</a:t>
                      </a:r>
                      <a:endParaRPr lang="en-IN"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200" dirty="0"/>
                        <a:t>Jiang, et al.</a:t>
                      </a:r>
                      <a:endParaRPr lang="en-IN"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Postharvest Biology and Technology Nondestructive quality assessment of chili</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Binary classification logic and manual morphological inspection.</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Fuzzy logic combined with K-Nearest Neighbor (KNN).</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Extracted morphological features (area, diameter) to classify seeds, handling uncertainty using Mamdani Fuzzy rules.</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Relies on manual, hand-crafted feature extraction, which is not scalable for high-throughput industrial pipelines.</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1769409"/>
                  </a:ext>
                </a:extLst>
              </a:tr>
              <a:tr h="1006816">
                <a:tc>
                  <a:txBody>
                    <a:bodyPr/>
                    <a:lstStyle/>
                    <a:p>
                      <a:pPr algn="ctr">
                        <a:buNone/>
                      </a:pPr>
                      <a:r>
                        <a:rPr lang="en-IN" sz="1200" b="1" dirty="0"/>
                        <a:t>2019</a:t>
                      </a:r>
                      <a:endParaRPr lang="en-IN"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err="1"/>
                        <a:t>Arsenovic</a:t>
                      </a:r>
                      <a:r>
                        <a:rPr lang="en-IN" sz="1200" dirty="0"/>
                        <a:t>, et al.</a:t>
                      </a:r>
                      <a:endParaRPr lang="en-IN"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Solving Current Limitations of Deep Learning Based Approaches for Plant Disease</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Standard CNNs trained on lab-controlled datasets (</a:t>
                      </a:r>
                      <a:r>
                        <a:rPr lang="en-US" sz="1200"/>
                        <a:t>like Plant Village</a:t>
                      </a:r>
                      <a:r>
                        <a:rPr lang="en-US" sz="1200" dirty="0"/>
                        <a:t>) with uniform backgrounds.</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Two-stage neural network architecture utilizing style Generative Adversarial Networks (GANs).</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Augmented data using GANs to mimic complex, real-world backgrounds; achieved 93.67% accuracy in real-life conditions.</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GAN-based data augmentation is highly computationally expensive and can introduce synthetic artifacts that confuse the model.</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6153971"/>
                  </a:ext>
                </a:extLst>
              </a:tr>
              <a:tr h="966865">
                <a:tc>
                  <a:txBody>
                    <a:bodyPr/>
                    <a:lstStyle/>
                    <a:p>
                      <a:pPr algn="ctr">
                        <a:buNone/>
                      </a:pPr>
                      <a:r>
                        <a:rPr lang="en-IN" sz="1200" b="1" dirty="0"/>
                        <a:t>2024</a:t>
                      </a:r>
                      <a:endParaRPr lang="en-IN"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dirty="0"/>
                        <a:t>Ma, et al.</a:t>
                      </a:r>
                      <a:endParaRPr lang="en-IN"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Chili Object Detection Method Based on Improved YOLOv8n</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Standard YOLOv5, YOLOv7-tiny, and baseline YOLOv8n networks.</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Improved YOLOv8n utilizing HGNetV2, SEAM attention, and CARAFE upsampling.</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Enhanced feature extraction under heavy leaf occlusion; reduced parameters by 29.5% while improving mAP.</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Spatial attention modules (SEAM) can struggle to generalize if the testing environment's lighting significantly differs from the training set.</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3769982"/>
                  </a:ext>
                </a:extLst>
              </a:tr>
              <a:tr h="1082393">
                <a:tc>
                  <a:txBody>
                    <a:bodyPr/>
                    <a:lstStyle/>
                    <a:p>
                      <a:pPr algn="ctr">
                        <a:buNone/>
                      </a:pPr>
                      <a:r>
                        <a:rPr lang="en-IN" sz="1200" b="1" dirty="0"/>
                        <a:t>2025</a:t>
                      </a:r>
                      <a:endParaRPr lang="en-IN"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200"/>
                        <a:t>Tai, et al.</a:t>
                      </a:r>
                      <a:endParaRPr lang="en-IN"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Intelligent Recognition and Automated Production of Chili: A Review...</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t>Fragmented literature on either purely deep learning or purely mechanical harvesting.</a:t>
                      </a:r>
                      <a:endParaRPr lang="en-US" sz="120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Comprehensive review framework analyzing the intersection of perception and robotics.</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Systematically mapped the transition from traditional CV to deep learning for fine-grained cultivar identification and robotic picking.</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t>As a review paper, it does not propose a novel algorithmic architecture or provide new empirical dataset testing.</a:t>
                      </a:r>
                      <a:endParaRPr lang="en-US" sz="1200" dirty="0">
                        <a:latin typeface="Times New Roman" panose="02020603050405020304" pitchFamily="18" charset="0"/>
                        <a:cs typeface="Times New Roman" panose="02020603050405020304" pitchFamily="18" charset="0"/>
                      </a:endParaRPr>
                    </a:p>
                  </a:txBody>
                  <a:tcPr marL="12468" marR="12468" marT="6234" marB="6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650917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IN" dirty="0">
                <a:latin typeface="Times New Roman" panose="02020603050405020304" pitchFamily="18" charset="0"/>
                <a:cs typeface="Times New Roman" panose="02020603050405020304" pitchFamily="18" charset="0"/>
                <a:sym typeface="+mn-ea"/>
              </a:rPr>
              <a:t>Existing Methodology</a:t>
            </a:r>
            <a:endParaRPr lang="en-US"/>
          </a:p>
        </p:txBody>
      </p:sp>
      <p:sp>
        <p:nvSpPr>
          <p:cNvPr id="3" name="Content Placeholder 2"/>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Manual Visual Inspection:</a:t>
            </a:r>
            <a:r>
              <a:rPr lang="en-US" sz="2400" dirty="0">
                <a:latin typeface="Times New Roman" panose="02020603050405020304" pitchFamily="18" charset="0"/>
                <a:cs typeface="Times New Roman" panose="02020603050405020304" pitchFamily="18" charset="0"/>
              </a:rPr>
              <a:t> Farmers or quality experts manually inspect harvested batches.</a:t>
            </a:r>
          </a:p>
          <a:p>
            <a:pPr algn="just"/>
            <a:r>
              <a:rPr lang="en-US" sz="2400" b="1" dirty="0">
                <a:latin typeface="Times New Roman" panose="02020603050405020304" pitchFamily="18" charset="0"/>
                <a:cs typeface="Times New Roman" panose="02020603050405020304" pitchFamily="18" charset="0"/>
              </a:rPr>
              <a:t>Subjective Assessment:</a:t>
            </a:r>
            <a:r>
              <a:rPr lang="en-US" sz="2400" dirty="0">
                <a:latin typeface="Times New Roman" panose="02020603050405020304" pitchFamily="18" charset="0"/>
                <a:cs typeface="Times New Roman" panose="02020603050405020304" pitchFamily="18" charset="0"/>
              </a:rPr>
              <a:t> Classification is based entirely on human experience, evaluating visible traits such as color gradient, physical shape, texture, and visible defects.</a:t>
            </a:r>
          </a:p>
          <a:p>
            <a:pPr algn="just"/>
            <a:r>
              <a:rPr lang="en-US" sz="2400" b="1" dirty="0">
                <a:latin typeface="Times New Roman" panose="02020603050405020304" pitchFamily="18" charset="0"/>
                <a:cs typeface="Times New Roman" panose="02020603050405020304" pitchFamily="18" charset="0"/>
              </a:rPr>
              <a:t>Basic Automated Systems:</a:t>
            </a:r>
            <a:r>
              <a:rPr lang="en-US" sz="2400" dirty="0">
                <a:latin typeface="Times New Roman" panose="02020603050405020304" pitchFamily="18" charset="0"/>
                <a:cs typeface="Times New Roman" panose="02020603050405020304" pitchFamily="18" charset="0"/>
              </a:rPr>
              <a:t> Some existing technological solutions rely on rudimentary computer vision (like basic color thresholding) or simple linear classifiers that do not learn complex feature hierarchies.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IN" dirty="0">
                <a:latin typeface="Times New Roman" panose="02020603050405020304" pitchFamily="18" charset="0"/>
                <a:cs typeface="Times New Roman" panose="02020603050405020304" pitchFamily="18" charset="0"/>
                <a:sym typeface="+mn-ea"/>
              </a:rPr>
              <a:t>Drawbacks of existing system</a:t>
            </a:r>
            <a:endParaRPr lang="en-US" dirty="0"/>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Judgments vary significantly between different human inspectors, leading to a complete lack of standardization.</a:t>
            </a:r>
          </a:p>
          <a:p>
            <a:pPr algn="just"/>
            <a:r>
              <a:rPr lang="en-US" sz="2400" dirty="0">
                <a:latin typeface="Times New Roman" panose="02020603050405020304" pitchFamily="18" charset="0"/>
                <a:cs typeface="Times New Roman" panose="02020603050405020304" pitchFamily="18" charset="0"/>
              </a:rPr>
              <a:t>Manual sorting is highly time-consuming and labor-intensive, creating bottlenecks in high-throughput processing.</a:t>
            </a:r>
          </a:p>
          <a:p>
            <a:pPr algn="just"/>
            <a:r>
              <a:rPr lang="en-US" sz="2400" dirty="0">
                <a:latin typeface="Times New Roman" panose="02020603050405020304" pitchFamily="18" charset="0"/>
                <a:cs typeface="Times New Roman" panose="02020603050405020304" pitchFamily="18" charset="0"/>
              </a:rPr>
              <a:t>The process is prone to human error and fatigue, especially when distinguishing between visually similar chili varieties.</a:t>
            </a:r>
          </a:p>
          <a:p>
            <a:pPr algn="just"/>
            <a:r>
              <a:rPr lang="en-US" sz="2400" dirty="0">
                <a:latin typeface="Times New Roman" panose="02020603050405020304" pitchFamily="18" charset="0"/>
                <a:cs typeface="Times New Roman" panose="02020603050405020304" pitchFamily="18" charset="0"/>
              </a:rPr>
              <a:t>It is completely ineffective and unscalable for handling large datasets or industrial-level agricultural requirements.</a:t>
            </a:r>
          </a:p>
          <a:p>
            <a:pPr algn="just"/>
            <a:r>
              <a:rPr lang="en-US" sz="2400" dirty="0">
                <a:latin typeface="Times New Roman" panose="02020603050405020304" pitchFamily="18" charset="0"/>
                <a:cs typeface="Times New Roman" panose="02020603050405020304" pitchFamily="18" charset="0"/>
              </a:rPr>
              <a:t>Human inspection and basic optical systems suffer reduced reliability under varying environmental and lighting conditions.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IN" dirty="0">
                <a:latin typeface="Times New Roman" panose="02020603050405020304" pitchFamily="18" charset="0"/>
                <a:cs typeface="Times New Roman" panose="02020603050405020304" pitchFamily="18" charset="0"/>
                <a:sym typeface="+mn-ea"/>
              </a:rPr>
              <a:t>Software Details</a:t>
            </a:r>
            <a:endParaRPr lang="en-US" dirty="0"/>
          </a:p>
        </p:txBody>
      </p:sp>
      <p:sp>
        <p:nvSpPr>
          <p:cNvPr id="3" name="Content Placeholder 2"/>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Programming Language:</a:t>
            </a:r>
            <a:r>
              <a:rPr lang="en-US" sz="2400" dirty="0">
                <a:latin typeface="Times New Roman" panose="02020603050405020304" pitchFamily="18" charset="0"/>
                <a:cs typeface="Times New Roman" panose="02020603050405020304" pitchFamily="18" charset="0"/>
              </a:rPr>
              <a:t> Python 3.12.0</a:t>
            </a:r>
          </a:p>
          <a:p>
            <a:pPr algn="just"/>
            <a:r>
              <a:rPr lang="en-IN" sz="2400" b="1" dirty="0">
                <a:latin typeface="Times New Roman" panose="02020603050405020304" pitchFamily="18" charset="0"/>
                <a:cs typeface="Times New Roman" panose="02020603050405020304" pitchFamily="18" charset="0"/>
              </a:rPr>
              <a:t>Data Manipulation &amp; Analysis:</a:t>
            </a:r>
            <a:r>
              <a:rPr lang="en-IN" sz="2400" dirty="0">
                <a:latin typeface="Times New Roman" panose="02020603050405020304" pitchFamily="18" charset="0"/>
                <a:cs typeface="Times New Roman" panose="02020603050405020304" pitchFamily="18" charset="0"/>
              </a:rPr>
              <a:t> Pandas, NumPy</a:t>
            </a:r>
          </a:p>
          <a:p>
            <a:pPr algn="just"/>
            <a:r>
              <a:rPr lang="en-IN" sz="2400" b="1" dirty="0">
                <a:latin typeface="Times New Roman" panose="02020603050405020304" pitchFamily="18" charset="0"/>
                <a:cs typeface="Times New Roman" panose="02020603050405020304" pitchFamily="18" charset="0"/>
              </a:rPr>
              <a:t>Image Processing:</a:t>
            </a:r>
            <a:r>
              <a:rPr lang="en-IN" sz="2400" dirty="0">
                <a:latin typeface="Times New Roman" panose="02020603050405020304" pitchFamily="18" charset="0"/>
                <a:cs typeface="Times New Roman" panose="02020603050405020304" pitchFamily="18" charset="0"/>
              </a:rPr>
              <a:t> OpenCV (cv2), Scikit-image</a:t>
            </a:r>
          </a:p>
          <a:p>
            <a:pPr algn="just"/>
            <a:r>
              <a:rPr lang="en-US" sz="2400" b="1" dirty="0">
                <a:latin typeface="Times New Roman" panose="02020603050405020304" pitchFamily="18" charset="0"/>
                <a:cs typeface="Times New Roman" panose="02020603050405020304" pitchFamily="18" charset="0"/>
              </a:rPr>
              <a:t>Machine Learning Framework:</a:t>
            </a:r>
            <a:r>
              <a:rPr lang="en-US" sz="2400" dirty="0">
                <a:latin typeface="Times New Roman" panose="02020603050405020304" pitchFamily="18" charset="0"/>
                <a:cs typeface="Times New Roman" panose="02020603050405020304" pitchFamily="18" charset="0"/>
              </a:rPr>
              <a:t> Scikit-learn (for model implementation, train-test splitting, and evaluation metrics)</a:t>
            </a:r>
          </a:p>
          <a:p>
            <a:pPr algn="just"/>
            <a:r>
              <a:rPr lang="en-IN" sz="2400" b="1" dirty="0">
                <a:latin typeface="Times New Roman" panose="02020603050405020304" pitchFamily="18" charset="0"/>
                <a:cs typeface="Times New Roman" panose="02020603050405020304" pitchFamily="18" charset="0"/>
              </a:rPr>
              <a:t>Model Serialization: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Joblib</a:t>
            </a:r>
            <a:r>
              <a:rPr lang="en-IN" sz="2400" dirty="0">
                <a:latin typeface="Times New Roman" panose="02020603050405020304" pitchFamily="18" charset="0"/>
                <a:cs typeface="Times New Roman" panose="02020603050405020304" pitchFamily="18" charset="0"/>
              </a:rPr>
              <a:t> / Pickle (for saving trained models)</a:t>
            </a:r>
          </a:p>
          <a:p>
            <a:pPr algn="just"/>
            <a:r>
              <a:rPr lang="en-US" sz="2400" b="1" dirty="0">
                <a:latin typeface="Times New Roman" panose="02020603050405020304" pitchFamily="18" charset="0"/>
                <a:cs typeface="Times New Roman" panose="02020603050405020304" pitchFamily="18" charset="0"/>
              </a:rPr>
              <a:t>Graphical User Interface (GUI):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Tkinter</a:t>
            </a:r>
            <a:r>
              <a:rPr lang="en-US" sz="2400" dirty="0">
                <a:latin typeface="Times New Roman" panose="02020603050405020304" pitchFamily="18" charset="0"/>
                <a:cs typeface="Times New Roman" panose="02020603050405020304" pitchFamily="18" charset="0"/>
              </a:rPr>
              <a:t> (for seamless user interaction and real-time predictions)</a:t>
            </a:r>
          </a:p>
          <a:p>
            <a:pPr algn="just"/>
            <a:r>
              <a:rPr lang="en-US" sz="2400" b="1" dirty="0">
                <a:latin typeface="Times New Roman" panose="02020603050405020304" pitchFamily="18" charset="0"/>
                <a:cs typeface="Times New Roman" panose="02020603050405020304" pitchFamily="18" charset="0"/>
              </a:rPr>
              <a:t>Visualization:</a:t>
            </a:r>
            <a:r>
              <a:rPr lang="en-US" sz="2400" dirty="0">
                <a:latin typeface="Times New Roman" panose="02020603050405020304" pitchFamily="18" charset="0"/>
                <a:cs typeface="Times New Roman" panose="02020603050405020304" pitchFamily="18" charset="0"/>
              </a:rPr>
              <a:t> Matplotlib, Seaborn (for performance graphs and confusion matrices)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en-IN" dirty="0">
                <a:latin typeface="Times New Roman" panose="02020603050405020304" pitchFamily="18" charset="0"/>
                <a:cs typeface="Times New Roman" panose="02020603050405020304" pitchFamily="18" charset="0"/>
                <a:sym typeface="+mn-ea"/>
              </a:rPr>
              <a:t>Research Gaps</a:t>
            </a:r>
            <a:endParaRPr lang="en-US" dirty="0"/>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Most existing research focuses </a:t>
            </a:r>
            <a:r>
              <a:rPr lang="en-US" sz="2400" i="1" dirty="0">
                <a:latin typeface="Times New Roman" panose="02020603050405020304" pitchFamily="18" charset="0"/>
                <a:cs typeface="Times New Roman" panose="02020603050405020304" pitchFamily="18" charset="0"/>
              </a:rPr>
              <a:t>either</a:t>
            </a:r>
            <a:r>
              <a:rPr lang="en-US" sz="2400" dirty="0">
                <a:latin typeface="Times New Roman" panose="02020603050405020304" pitchFamily="18" charset="0"/>
                <a:cs typeface="Times New Roman" panose="02020603050405020304" pitchFamily="18" charset="0"/>
              </a:rPr>
              <a:t> on disease detection </a:t>
            </a:r>
            <a:r>
              <a:rPr lang="en-US" sz="2400" i="1" dirty="0">
                <a:latin typeface="Times New Roman" panose="02020603050405020304" pitchFamily="18" charset="0"/>
                <a:cs typeface="Times New Roman" panose="02020603050405020304" pitchFamily="18" charset="0"/>
              </a:rPr>
              <a:t>or</a:t>
            </a:r>
            <a:r>
              <a:rPr lang="en-US" sz="2400" dirty="0">
                <a:latin typeface="Times New Roman" panose="02020603050405020304" pitchFamily="18" charset="0"/>
                <a:cs typeface="Times New Roman" panose="02020603050405020304" pitchFamily="18" charset="0"/>
              </a:rPr>
              <a:t> simple variety classification, lacking a unified multi-class framework that handles both (Variety + Health states).</a:t>
            </a:r>
          </a:p>
          <a:p>
            <a:pPr algn="just"/>
            <a:r>
              <a:rPr lang="en-US" sz="2400" dirty="0">
                <a:latin typeface="Times New Roman" panose="02020603050405020304" pitchFamily="18" charset="0"/>
                <a:cs typeface="Times New Roman" panose="02020603050405020304" pitchFamily="18" charset="0"/>
              </a:rPr>
              <a:t>Advanced hyperspectral or deep learning models require massive computational power, making them difficult to deploy on standard, low-cost agricultural hardware.</a:t>
            </a:r>
          </a:p>
          <a:p>
            <a:pPr algn="just"/>
            <a:r>
              <a:rPr lang="en-US" sz="2400" dirty="0">
                <a:latin typeface="Times New Roman" panose="02020603050405020304" pitchFamily="18" charset="0"/>
                <a:cs typeface="Times New Roman" panose="02020603050405020304" pitchFamily="18" charset="0"/>
              </a:rPr>
              <a:t>Traditional machine learning approaches often fail to capture the subtle, non-linear spatial texture variations in chili surfaces, necessitating optimized models like LGBM.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8E832-FD23-5FFE-94C4-DF5E87FAAE1A}"/>
              </a:ext>
            </a:extLst>
          </p:cNvPr>
          <p:cNvSpPr>
            <a:spLocks noGrp="1"/>
          </p:cNvSpPr>
          <p:nvPr>
            <p:ph type="title"/>
          </p:nvPr>
        </p:nvSpPr>
        <p:spPr>
          <a:xfrm>
            <a:off x="838200" y="365126"/>
            <a:ext cx="10515600" cy="1053128"/>
          </a:xfrm>
        </p:spPr>
        <p:txBody>
          <a:bodyPr/>
          <a:lstStyle/>
          <a:p>
            <a:pPr algn="ctr"/>
            <a:r>
              <a:rPr lang="en-IN" dirty="0">
                <a:latin typeface="Times New Roman" panose="02020603050405020304" pitchFamily="18" charset="0"/>
                <a:cs typeface="Times New Roman" panose="02020603050405020304" pitchFamily="18" charset="0"/>
              </a:rPr>
              <a:t>Proposed Methodology</a:t>
            </a:r>
          </a:p>
        </p:txBody>
      </p:sp>
      <p:sp>
        <p:nvSpPr>
          <p:cNvPr id="10" name="Rectangle 5">
            <a:extLst>
              <a:ext uri="{FF2B5EF4-FFF2-40B4-BE49-F238E27FC236}">
                <a16:creationId xmlns:a16="http://schemas.microsoft.com/office/drawing/2014/main" id="{9B956233-27CB-8270-9E4C-F421464B7694}"/>
              </a:ext>
            </a:extLst>
          </p:cNvPr>
          <p:cNvSpPr>
            <a:spLocks noGrp="1" noChangeArrowheads="1"/>
          </p:cNvSpPr>
          <p:nvPr>
            <p:ph idx="1"/>
          </p:nvPr>
        </p:nvSpPr>
        <p:spPr bwMode="auto">
          <a:xfrm>
            <a:off x="838200" y="1513912"/>
            <a:ext cx="10515599"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Multi-Source Data Acquisition: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collection of chili images organized into specific categories.</a:t>
            </a:r>
          </a:p>
          <a:p>
            <a:pPr algn="just"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Preprocessing Pipeline: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Standardizing images by resizing them to 64x64 pixels, normalizing colors, and flattening them into 1D numerical feature vectors.</a:t>
            </a:r>
          </a:p>
          <a:p>
            <a:pPr algn="just"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Splitting: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Randomly partitioning the preprocessed data into a 80% Training set and a 20% Testing set to ensure an unbiased evaluation.</a:t>
            </a:r>
          </a:p>
          <a:p>
            <a:pPr algn="just"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Multi-Model Training: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Training four distinct supervised machine learning classifiers simultaneously: LGBM, LDA, AdaBoost, and SVM.</a:t>
            </a:r>
          </a:p>
          <a:p>
            <a:pPr algn="just"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&amp; Model Persistence: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400" dirty="0"/>
              <a:t>Validating all trained models and saving the best-performing LGBM Classifier for real-time, automated inference.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1224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DB46B-BA2A-2A7D-C8C6-19EECD446A37}"/>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Sample code</a:t>
            </a:r>
          </a:p>
        </p:txBody>
      </p:sp>
      <p:sp>
        <p:nvSpPr>
          <p:cNvPr id="3" name="Content Placeholder 2">
            <a:extLst>
              <a:ext uri="{FF2B5EF4-FFF2-40B4-BE49-F238E27FC236}">
                <a16:creationId xmlns:a16="http://schemas.microsoft.com/office/drawing/2014/main" id="{44DBC4CE-DB04-EC04-8100-B7240881F6CD}"/>
              </a:ext>
            </a:extLst>
          </p:cNvPr>
          <p:cNvSpPr>
            <a:spLocks noGrp="1"/>
          </p:cNvSpPr>
          <p:nvPr>
            <p:ph idx="1"/>
          </p:nvPr>
        </p:nvSpPr>
        <p:spPr>
          <a:xfrm>
            <a:off x="838200" y="1825625"/>
            <a:ext cx="10741090" cy="4667250"/>
          </a:xfrm>
        </p:spPr>
        <p:txBody>
          <a:bodyPr>
            <a:noAutofit/>
          </a:bodyPr>
          <a:lstStyle/>
          <a:p>
            <a:pPr marL="0" indent="0">
              <a:buNone/>
            </a:pPr>
            <a:r>
              <a:rPr lang="en-IN" sz="2400" dirty="0">
                <a:latin typeface="Times New Roman" panose="02020603050405020304" pitchFamily="18" charset="0"/>
                <a:cs typeface="Times New Roman" panose="02020603050405020304" pitchFamily="18" charset="0"/>
              </a:rPr>
              <a:t># Load Dataset</a:t>
            </a:r>
          </a:p>
          <a:p>
            <a:pPr marL="0" indent="0">
              <a:buNone/>
            </a:pPr>
            <a:r>
              <a:rPr lang="en-IN" sz="2400" dirty="0">
                <a:latin typeface="Times New Roman" panose="02020603050405020304" pitchFamily="18" charset="0"/>
                <a:cs typeface="Times New Roman" panose="02020603050405020304" pitchFamily="18" charset="0"/>
              </a:rPr>
              <a:t>path = "Chili Multi-Source"</a:t>
            </a:r>
          </a:p>
          <a:p>
            <a:pPr marL="0" indent="0">
              <a:buNone/>
            </a:pPr>
            <a:r>
              <a:rPr lang="en-IN" sz="2400" dirty="0">
                <a:latin typeface="Times New Roman" panose="02020603050405020304" pitchFamily="18" charset="0"/>
                <a:cs typeface="Times New Roman" panose="02020603050405020304" pitchFamily="18" charset="0"/>
              </a:rPr>
              <a:t>categories = </a:t>
            </a:r>
            <a:r>
              <a:rPr lang="en-IN" sz="2400" dirty="0" err="1">
                <a:latin typeface="Times New Roman" panose="02020603050405020304" pitchFamily="18" charset="0"/>
                <a:cs typeface="Times New Roman" panose="02020603050405020304" pitchFamily="18" charset="0"/>
              </a:rPr>
              <a:t>os.listdir</a:t>
            </a:r>
            <a:r>
              <a:rPr lang="en-IN" sz="2400" dirty="0">
                <a:latin typeface="Times New Roman" panose="02020603050405020304" pitchFamily="18" charset="0"/>
                <a:cs typeface="Times New Roman" panose="02020603050405020304" pitchFamily="18" charset="0"/>
              </a:rPr>
              <a:t>(path)</a:t>
            </a:r>
          </a:p>
          <a:p>
            <a:pPr marL="0" indent="0">
              <a:buNone/>
            </a:pPr>
            <a:r>
              <a:rPr lang="en-IN" sz="2400" dirty="0">
                <a:latin typeface="Times New Roman" panose="02020603050405020304" pitchFamily="18" charset="0"/>
                <a:cs typeface="Times New Roman" panose="02020603050405020304" pitchFamily="18" charset="0"/>
              </a:rPr>
              <a:t># Image Visualization</a:t>
            </a:r>
          </a:p>
          <a:p>
            <a:pPr marL="0" indent="0">
              <a:buNone/>
            </a:pPr>
            <a:r>
              <a:rPr lang="en-IN" sz="2400" dirty="0">
                <a:latin typeface="Times New Roman" panose="02020603050405020304" pitchFamily="18" charset="0"/>
                <a:cs typeface="Times New Roman" panose="02020603050405020304" pitchFamily="18" charset="0"/>
              </a:rPr>
              <a:t>for category in categories:</a:t>
            </a:r>
          </a:p>
          <a:p>
            <a:pPr marL="0" indent="0">
              <a:buNone/>
            </a:pPr>
            <a:r>
              <a:rPr lang="en-IN" sz="2400" dirty="0">
                <a:latin typeface="Times New Roman" panose="02020603050405020304" pitchFamily="18" charset="0"/>
                <a:cs typeface="Times New Roman" panose="02020603050405020304" pitchFamily="18" charset="0"/>
              </a:rPr>
              <a:t>    folder = </a:t>
            </a:r>
            <a:r>
              <a:rPr lang="en-IN" sz="2400" dirty="0" err="1">
                <a:latin typeface="Times New Roman" panose="02020603050405020304" pitchFamily="18" charset="0"/>
                <a:cs typeface="Times New Roman" panose="02020603050405020304" pitchFamily="18" charset="0"/>
              </a:rPr>
              <a:t>os.path.join</a:t>
            </a:r>
            <a:r>
              <a:rPr lang="en-IN" sz="2400" dirty="0">
                <a:latin typeface="Times New Roman" panose="02020603050405020304" pitchFamily="18" charset="0"/>
                <a:cs typeface="Times New Roman" panose="02020603050405020304" pitchFamily="18" charset="0"/>
              </a:rPr>
              <a:t>(path, category)</a:t>
            </a:r>
          </a:p>
          <a:p>
            <a:pPr marL="0" indent="0">
              <a:buNone/>
            </a:pPr>
            <a:r>
              <a:rPr lang="en-IN" sz="2400" dirty="0">
                <a:latin typeface="Times New Roman" panose="02020603050405020304" pitchFamily="18" charset="0"/>
                <a:cs typeface="Times New Roman" panose="02020603050405020304" pitchFamily="18" charset="0"/>
              </a:rPr>
              <a:t>    images = </a:t>
            </a:r>
            <a:r>
              <a:rPr lang="en-IN" sz="2400" dirty="0" err="1">
                <a:latin typeface="Times New Roman" panose="02020603050405020304" pitchFamily="18" charset="0"/>
                <a:cs typeface="Times New Roman" panose="02020603050405020304" pitchFamily="18" charset="0"/>
              </a:rPr>
              <a:t>os.listdir</a:t>
            </a:r>
            <a:r>
              <a:rPr lang="en-IN" sz="2400" dirty="0">
                <a:latin typeface="Times New Roman" panose="02020603050405020304" pitchFamily="18" charset="0"/>
                <a:cs typeface="Times New Roman" panose="02020603050405020304" pitchFamily="18" charset="0"/>
              </a:rPr>
              <a:t>(folder)[:4]</a:t>
            </a:r>
          </a:p>
          <a:p>
            <a:pPr marL="0" indent="0">
              <a:buNone/>
            </a:pPr>
            <a:r>
              <a:rPr lang="en-IN" sz="2400" dirty="0">
                <a:latin typeface="Times New Roman" panose="02020603050405020304" pitchFamily="18" charset="0"/>
                <a:cs typeface="Times New Roman" panose="02020603050405020304" pitchFamily="18" charset="0"/>
              </a:rPr>
              <a:t>    for </a:t>
            </a:r>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 in images:</a:t>
            </a:r>
          </a:p>
          <a:p>
            <a:pPr marL="0" indent="0">
              <a:buNone/>
            </a:pPr>
            <a:r>
              <a:rPr lang="en-IN" sz="2400" dirty="0">
                <a:latin typeface="Times New Roman" panose="02020603050405020304" pitchFamily="18" charset="0"/>
                <a:cs typeface="Times New Roman" panose="02020603050405020304" pitchFamily="18" charset="0"/>
              </a:rPr>
              <a:t>        image = cv2.imread(</a:t>
            </a:r>
            <a:r>
              <a:rPr lang="en-IN" sz="2400" dirty="0" err="1">
                <a:latin typeface="Times New Roman" panose="02020603050405020304" pitchFamily="18" charset="0"/>
                <a:cs typeface="Times New Roman" panose="02020603050405020304" pitchFamily="18" charset="0"/>
              </a:rPr>
              <a:t>os.path.join</a:t>
            </a:r>
            <a:r>
              <a:rPr lang="en-IN" sz="2400" dirty="0">
                <a:latin typeface="Times New Roman" panose="02020603050405020304" pitchFamily="18" charset="0"/>
                <a:cs typeface="Times New Roman" panose="02020603050405020304" pitchFamily="18" charset="0"/>
              </a:rPr>
              <a:t>(folder, </a:t>
            </a:r>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35996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CD3D7E-3FEE-F7B7-DF75-822C77503408}"/>
              </a:ext>
            </a:extLst>
          </p:cNvPr>
          <p:cNvSpPr txBox="1"/>
          <p:nvPr/>
        </p:nvSpPr>
        <p:spPr>
          <a:xfrm>
            <a:off x="678802" y="466159"/>
            <a:ext cx="10377974" cy="637097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image = cv2.cvtColor(image, cv2.COLOR_BGR2RGB)</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plt.imshow</a:t>
            </a:r>
            <a:r>
              <a:rPr lang="en-IN" sz="2400" dirty="0">
                <a:latin typeface="Times New Roman" panose="02020603050405020304" pitchFamily="18" charset="0"/>
                <a:cs typeface="Times New Roman" panose="02020603050405020304" pitchFamily="18" charset="0"/>
              </a:rPr>
              <a:t>(image)</a:t>
            </a:r>
          </a:p>
          <a:p>
            <a:r>
              <a:rPr lang="en-IN" sz="2400" dirty="0">
                <a:latin typeface="Times New Roman" panose="02020603050405020304" pitchFamily="18" charset="0"/>
                <a:cs typeface="Times New Roman" panose="02020603050405020304" pitchFamily="18" charset="0"/>
              </a:rPr>
              <a:t># Preprocessing</a:t>
            </a:r>
          </a:p>
          <a:p>
            <a:r>
              <a:rPr lang="en-IN" sz="2400" dirty="0">
                <a:latin typeface="Times New Roman" panose="02020603050405020304" pitchFamily="18" charset="0"/>
                <a:cs typeface="Times New Roman" panose="02020603050405020304" pitchFamily="18" charset="0"/>
              </a:rPr>
              <a:t>X, Y = [], []</a:t>
            </a:r>
          </a:p>
          <a:p>
            <a:r>
              <a:rPr lang="en-IN" sz="2400" dirty="0">
                <a:latin typeface="Times New Roman" panose="02020603050405020304" pitchFamily="18" charset="0"/>
                <a:cs typeface="Times New Roman" panose="02020603050405020304" pitchFamily="18" charset="0"/>
              </a:rPr>
              <a:t>for root, </a:t>
            </a:r>
            <a:r>
              <a:rPr lang="en-IN" sz="2400" dirty="0" err="1">
                <a:latin typeface="Times New Roman" panose="02020603050405020304" pitchFamily="18" charset="0"/>
                <a:cs typeface="Times New Roman" panose="02020603050405020304" pitchFamily="18" charset="0"/>
              </a:rPr>
              <a:t>dirs</a:t>
            </a:r>
            <a:r>
              <a:rPr lang="en-IN" sz="2400" dirty="0">
                <a:latin typeface="Times New Roman" panose="02020603050405020304" pitchFamily="18" charset="0"/>
                <a:cs typeface="Times New Roman" panose="02020603050405020304" pitchFamily="18" charset="0"/>
              </a:rPr>
              <a:t>, files in </a:t>
            </a:r>
            <a:r>
              <a:rPr lang="en-IN" sz="2400" dirty="0" err="1">
                <a:latin typeface="Times New Roman" panose="02020603050405020304" pitchFamily="18" charset="0"/>
                <a:cs typeface="Times New Roman" panose="02020603050405020304" pitchFamily="18" charset="0"/>
              </a:rPr>
              <a:t>os.walk</a:t>
            </a:r>
            <a:r>
              <a:rPr lang="en-IN" sz="2400" dirty="0">
                <a:latin typeface="Times New Roman" panose="02020603050405020304" pitchFamily="18" charset="0"/>
                <a:cs typeface="Times New Roman" panose="02020603050405020304" pitchFamily="18" charset="0"/>
              </a:rPr>
              <a:t>(path):</a:t>
            </a:r>
          </a:p>
          <a:p>
            <a:r>
              <a:rPr lang="en-IN" sz="2400" dirty="0">
                <a:latin typeface="Times New Roman" panose="02020603050405020304" pitchFamily="18" charset="0"/>
                <a:cs typeface="Times New Roman" panose="02020603050405020304" pitchFamily="18" charset="0"/>
              </a:rPr>
              <a:t>    for file in files:</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 = cv2.imread(</a:t>
            </a:r>
            <a:r>
              <a:rPr lang="en-IN" sz="2400" dirty="0" err="1">
                <a:latin typeface="Times New Roman" panose="02020603050405020304" pitchFamily="18" charset="0"/>
                <a:cs typeface="Times New Roman" panose="02020603050405020304" pitchFamily="18" charset="0"/>
              </a:rPr>
              <a:t>os.path.join</a:t>
            </a:r>
            <a:r>
              <a:rPr lang="en-IN" sz="2400" dirty="0">
                <a:latin typeface="Times New Roman" panose="02020603050405020304" pitchFamily="18" charset="0"/>
                <a:cs typeface="Times New Roman" panose="02020603050405020304" pitchFamily="18" charset="0"/>
              </a:rPr>
              <a:t>(root, file))</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 = resize(</a:t>
            </a:r>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 (64,64,3))</a:t>
            </a:r>
          </a:p>
          <a:p>
            <a:r>
              <a:rPr lang="en-IN" sz="2400" dirty="0" err="1">
                <a:latin typeface="Times New Roman" panose="02020603050405020304" pitchFamily="18" charset="0"/>
                <a:cs typeface="Times New Roman" panose="02020603050405020304" pitchFamily="18" charset="0"/>
              </a:rPr>
              <a:t>X.append</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img.flatten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Y.append</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categories.index</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os.path.basename</a:t>
            </a:r>
            <a:r>
              <a:rPr lang="en-IN" sz="2400" dirty="0">
                <a:latin typeface="Times New Roman" panose="02020603050405020304" pitchFamily="18" charset="0"/>
                <a:cs typeface="Times New Roman" panose="02020603050405020304" pitchFamily="18" charset="0"/>
              </a:rPr>
              <a:t>(root)))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X = </a:t>
            </a:r>
            <a:r>
              <a:rPr lang="en-IN" sz="2400" dirty="0" err="1">
                <a:latin typeface="Times New Roman" panose="02020603050405020304" pitchFamily="18" charset="0"/>
                <a:cs typeface="Times New Roman" panose="02020603050405020304" pitchFamily="18" charset="0"/>
              </a:rPr>
              <a:t>np.array</a:t>
            </a:r>
            <a:r>
              <a:rPr lang="en-IN" sz="2400" dirty="0">
                <a:latin typeface="Times New Roman" panose="02020603050405020304" pitchFamily="18" charset="0"/>
                <a:cs typeface="Times New Roman" panose="02020603050405020304" pitchFamily="18" charset="0"/>
              </a:rPr>
              <a:t>(X)</a:t>
            </a:r>
          </a:p>
          <a:p>
            <a:r>
              <a:rPr lang="en-IN" sz="2400" dirty="0">
                <a:latin typeface="Times New Roman" panose="02020603050405020304" pitchFamily="18" charset="0"/>
                <a:cs typeface="Times New Roman" panose="02020603050405020304" pitchFamily="18" charset="0"/>
              </a:rPr>
              <a:t>Y = </a:t>
            </a:r>
            <a:r>
              <a:rPr lang="en-IN" sz="2400" dirty="0" err="1">
                <a:latin typeface="Times New Roman" panose="02020603050405020304" pitchFamily="18" charset="0"/>
                <a:cs typeface="Times New Roman" panose="02020603050405020304" pitchFamily="18" charset="0"/>
              </a:rPr>
              <a:t>np.array</a:t>
            </a:r>
            <a:r>
              <a:rPr lang="en-IN" sz="2400" dirty="0">
                <a:latin typeface="Times New Roman" panose="02020603050405020304" pitchFamily="18" charset="0"/>
                <a:cs typeface="Times New Roman" panose="02020603050405020304" pitchFamily="18" charset="0"/>
              </a:rPr>
              <a:t>(Y)</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Train-Test Split</a:t>
            </a:r>
          </a:p>
          <a:p>
            <a:r>
              <a:rPr lang="en-IN" sz="2400" dirty="0" err="1">
                <a:latin typeface="Times New Roman" panose="02020603050405020304" pitchFamily="18" charset="0"/>
                <a:cs typeface="Times New Roman" panose="02020603050405020304" pitchFamily="18" charset="0"/>
              </a:rPr>
              <a:t>x_train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x_test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y_train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y_test</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train_test_split</a:t>
            </a:r>
            <a:r>
              <a:rPr lang="en-IN" sz="2400" dirty="0">
                <a:latin typeface="Times New Roman" panose="02020603050405020304" pitchFamily="18" charset="0"/>
                <a:cs typeface="Times New Roman" panose="02020603050405020304" pitchFamily="18" charset="0"/>
              </a:rPr>
              <a:t>(X, Y, </a:t>
            </a:r>
            <a:r>
              <a:rPr lang="en-IN" sz="2400" dirty="0" err="1">
                <a:latin typeface="Times New Roman" panose="02020603050405020304" pitchFamily="18" charset="0"/>
                <a:cs typeface="Times New Roman" panose="02020603050405020304" pitchFamily="18" charset="0"/>
              </a:rPr>
              <a:t>test_size</a:t>
            </a:r>
            <a:r>
              <a:rPr lang="en-IN" sz="2400" dirty="0">
                <a:latin typeface="Times New Roman" panose="02020603050405020304" pitchFamily="18" charset="0"/>
                <a:cs typeface="Times New Roman" panose="02020603050405020304" pitchFamily="18" charset="0"/>
              </a:rPr>
              <a:t>=0.3)</a:t>
            </a:r>
          </a:p>
          <a:p>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3900001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C51F0C-6023-3472-E61C-398C951E3235}"/>
              </a:ext>
            </a:extLst>
          </p:cNvPr>
          <p:cNvSpPr txBox="1"/>
          <p:nvPr/>
        </p:nvSpPr>
        <p:spPr>
          <a:xfrm>
            <a:off x="707571" y="243512"/>
            <a:ext cx="10776857" cy="637097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 Model Training</a:t>
            </a:r>
          </a:p>
          <a:p>
            <a:r>
              <a:rPr lang="en-IN" sz="2400" dirty="0">
                <a:latin typeface="Times New Roman" panose="02020603050405020304" pitchFamily="18" charset="0"/>
                <a:cs typeface="Times New Roman" panose="02020603050405020304" pitchFamily="18" charset="0"/>
              </a:rPr>
              <a:t>models = {</a:t>
            </a:r>
          </a:p>
          <a:p>
            <a:r>
              <a:rPr lang="en-IN" sz="2400" dirty="0">
                <a:latin typeface="Times New Roman" panose="02020603050405020304" pitchFamily="18" charset="0"/>
                <a:cs typeface="Times New Roman" panose="02020603050405020304" pitchFamily="18" charset="0"/>
              </a:rPr>
              <a:t>    "LGBM": </a:t>
            </a:r>
            <a:r>
              <a:rPr lang="en-IN" sz="2400" dirty="0" err="1">
                <a:latin typeface="Times New Roman" panose="02020603050405020304" pitchFamily="18" charset="0"/>
                <a:cs typeface="Times New Roman" panose="02020603050405020304" pitchFamily="18" charset="0"/>
              </a:rPr>
              <a:t>LGBMClassifier</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"LDA": </a:t>
            </a:r>
            <a:r>
              <a:rPr lang="en-IN" sz="2400" dirty="0" err="1">
                <a:latin typeface="Times New Roman" panose="02020603050405020304" pitchFamily="18" charset="0"/>
                <a:cs typeface="Times New Roman" panose="02020603050405020304" pitchFamily="18" charset="0"/>
              </a:rPr>
              <a:t>LinearDiscriminantAnalysis</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"AdaBoost": </a:t>
            </a:r>
            <a:r>
              <a:rPr lang="en-IN" sz="2400" dirty="0" err="1">
                <a:latin typeface="Times New Roman" panose="02020603050405020304" pitchFamily="18" charset="0"/>
                <a:cs typeface="Times New Roman" panose="02020603050405020304" pitchFamily="18" charset="0"/>
              </a:rPr>
              <a:t>AdaBoostClassifier</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"SVM": SVC()</a:t>
            </a:r>
          </a:p>
          <a:p>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for name, model in </a:t>
            </a:r>
            <a:r>
              <a:rPr lang="en-IN" sz="2400" dirty="0" err="1">
                <a:latin typeface="Times New Roman" panose="02020603050405020304" pitchFamily="18" charset="0"/>
                <a:cs typeface="Times New Roman" panose="02020603050405020304" pitchFamily="18" charset="0"/>
              </a:rPr>
              <a:t>models.items</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model.fit</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x_train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y_train</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preds = </a:t>
            </a:r>
            <a:r>
              <a:rPr lang="en-IN" sz="2400" dirty="0" err="1">
                <a:latin typeface="Times New Roman" panose="02020603050405020304" pitchFamily="18" charset="0"/>
                <a:cs typeface="Times New Roman" panose="02020603050405020304" pitchFamily="18" charset="0"/>
              </a:rPr>
              <a:t>model.predict</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x_test</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Prediction</a:t>
            </a:r>
          </a:p>
          <a:p>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load_img</a:t>
            </a:r>
            <a:r>
              <a:rPr lang="en-IN" sz="2400" dirty="0">
                <a:latin typeface="Times New Roman" panose="02020603050405020304" pitchFamily="18" charset="0"/>
                <a:cs typeface="Times New Roman" panose="02020603050405020304" pitchFamily="18" charset="0"/>
              </a:rPr>
              <a:t>("test_image.jpg", </a:t>
            </a:r>
            <a:r>
              <a:rPr lang="en-IN" sz="2400" dirty="0" err="1">
                <a:latin typeface="Times New Roman" panose="02020603050405020304" pitchFamily="18" charset="0"/>
                <a:cs typeface="Times New Roman" panose="02020603050405020304" pitchFamily="18" charset="0"/>
              </a:rPr>
              <a:t>target_size</a:t>
            </a:r>
            <a:r>
              <a:rPr lang="en-IN" sz="2400" dirty="0">
                <a:latin typeface="Times New Roman" panose="02020603050405020304" pitchFamily="18" charset="0"/>
                <a:cs typeface="Times New Roman" panose="02020603050405020304" pitchFamily="18" charset="0"/>
              </a:rPr>
              <a:t>=(64,64))</a:t>
            </a:r>
          </a:p>
          <a:p>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img_to_array</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)/255.0</a:t>
            </a:r>
          </a:p>
          <a:p>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img.flatten</a:t>
            </a:r>
            <a:r>
              <a:rPr lang="en-IN" sz="2400" dirty="0">
                <a:latin typeface="Times New Roman" panose="02020603050405020304" pitchFamily="18" charset="0"/>
                <a:cs typeface="Times New Roman" panose="02020603050405020304" pitchFamily="18" charset="0"/>
              </a:rPr>
              <a:t>().reshape(1,-1)</a:t>
            </a:r>
          </a:p>
          <a:p>
            <a:r>
              <a:rPr lang="en-IN" sz="2400" dirty="0">
                <a:latin typeface="Times New Roman" panose="02020603050405020304" pitchFamily="18" charset="0"/>
                <a:cs typeface="Times New Roman" panose="02020603050405020304" pitchFamily="18" charset="0"/>
              </a:rPr>
              <a:t>prediction = </a:t>
            </a:r>
            <a:r>
              <a:rPr lang="en-IN" sz="2400" dirty="0" err="1">
                <a:latin typeface="Times New Roman" panose="02020603050405020304" pitchFamily="18" charset="0"/>
                <a:cs typeface="Times New Roman" panose="02020603050405020304" pitchFamily="18" charset="0"/>
              </a:rPr>
              <a:t>model.predict</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img</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32022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CBD50-DE7C-9846-1FA6-106966B6E751}"/>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Packages/Libraries</a:t>
            </a:r>
          </a:p>
        </p:txBody>
      </p:sp>
      <p:sp>
        <p:nvSpPr>
          <p:cNvPr id="3" name="Content Placeholder 2">
            <a:extLst>
              <a:ext uri="{FF2B5EF4-FFF2-40B4-BE49-F238E27FC236}">
                <a16:creationId xmlns:a16="http://schemas.microsoft.com/office/drawing/2014/main" id="{D821FF8C-85B4-5E5B-1D39-D9D0B0318945}"/>
              </a:ext>
            </a:extLst>
          </p:cNvPr>
          <p:cNvSpPr>
            <a:spLocks noGrp="1"/>
          </p:cNvSpPr>
          <p:nvPr>
            <p:ph idx="1"/>
          </p:nvPr>
        </p:nvSpPr>
        <p:spPr>
          <a:xfrm>
            <a:off x="679580" y="1834955"/>
            <a:ext cx="10591800" cy="4657919"/>
          </a:xfrm>
        </p:spPr>
        <p:txBody>
          <a:bodyPr>
            <a:normAutofit fontScale="77500" lnSpcReduction="20000"/>
          </a:bodyPr>
          <a:lstStyle/>
          <a:p>
            <a:pPr marL="0" indent="0">
              <a:buNone/>
            </a:pPr>
            <a:r>
              <a:rPr lang="en-IN" sz="3100" dirty="0">
                <a:latin typeface="Times New Roman" panose="02020603050405020304" pitchFamily="18" charset="0"/>
                <a:cs typeface="Times New Roman" panose="02020603050405020304" pitchFamily="18" charset="0"/>
              </a:rPr>
              <a:t>## Importing Libraries</a:t>
            </a:r>
          </a:p>
          <a:p>
            <a:pPr marL="0" indent="0">
              <a:buNone/>
            </a:pPr>
            <a:r>
              <a:rPr lang="en-IN" sz="3100" dirty="0">
                <a:latin typeface="Times New Roman" panose="02020603050405020304" pitchFamily="18" charset="0"/>
                <a:cs typeface="Times New Roman" panose="02020603050405020304" pitchFamily="18" charset="0"/>
              </a:rPr>
              <a:t>import pandas as pd</a:t>
            </a:r>
          </a:p>
          <a:p>
            <a:pPr marL="0" indent="0">
              <a:buNone/>
            </a:pPr>
            <a:r>
              <a:rPr lang="en-IN" sz="3100" dirty="0">
                <a:latin typeface="Times New Roman" panose="02020603050405020304" pitchFamily="18" charset="0"/>
                <a:cs typeface="Times New Roman" panose="02020603050405020304" pitchFamily="18" charset="0"/>
              </a:rPr>
              <a:t>import </a:t>
            </a:r>
            <a:r>
              <a:rPr lang="en-IN" sz="3100" dirty="0" err="1">
                <a:latin typeface="Times New Roman" panose="02020603050405020304" pitchFamily="18" charset="0"/>
                <a:cs typeface="Times New Roman" panose="02020603050405020304" pitchFamily="18" charset="0"/>
              </a:rPr>
              <a:t>os</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a:latin typeface="Times New Roman" panose="02020603050405020304" pitchFamily="18" charset="0"/>
                <a:cs typeface="Times New Roman" panose="02020603050405020304" pitchFamily="18" charset="0"/>
              </a:rPr>
              <a:t>import </a:t>
            </a:r>
            <a:r>
              <a:rPr lang="en-IN" sz="3100" dirty="0" err="1">
                <a:latin typeface="Times New Roman" panose="02020603050405020304" pitchFamily="18" charset="0"/>
                <a:cs typeface="Times New Roman" panose="02020603050405020304" pitchFamily="18" charset="0"/>
              </a:rPr>
              <a:t>numpy</a:t>
            </a:r>
            <a:r>
              <a:rPr lang="en-IN" sz="3100" dirty="0">
                <a:latin typeface="Times New Roman" panose="02020603050405020304" pitchFamily="18" charset="0"/>
                <a:cs typeface="Times New Roman" panose="02020603050405020304" pitchFamily="18" charset="0"/>
              </a:rPr>
              <a:t> as np</a:t>
            </a:r>
          </a:p>
          <a:p>
            <a:pPr marL="0" indent="0">
              <a:buNone/>
            </a:pPr>
            <a:r>
              <a:rPr lang="en-IN" sz="3100" dirty="0">
                <a:latin typeface="Times New Roman" panose="02020603050405020304" pitchFamily="18" charset="0"/>
                <a:cs typeface="Times New Roman" panose="02020603050405020304" pitchFamily="18" charset="0"/>
              </a:rPr>
              <a:t>import </a:t>
            </a:r>
            <a:r>
              <a:rPr lang="en-IN" sz="3100" dirty="0" err="1">
                <a:latin typeface="Times New Roman" panose="02020603050405020304" pitchFamily="18" charset="0"/>
                <a:cs typeface="Times New Roman" panose="02020603050405020304" pitchFamily="18" charset="0"/>
              </a:rPr>
              <a:t>matplotlib.pyplot</a:t>
            </a:r>
            <a:r>
              <a:rPr lang="en-IN" sz="3100" dirty="0">
                <a:latin typeface="Times New Roman" panose="02020603050405020304" pitchFamily="18" charset="0"/>
                <a:cs typeface="Times New Roman" panose="02020603050405020304" pitchFamily="18" charset="0"/>
              </a:rPr>
              <a:t> as </a:t>
            </a:r>
            <a:r>
              <a:rPr lang="en-IN" sz="3100" dirty="0" err="1">
                <a:latin typeface="Times New Roman" panose="02020603050405020304" pitchFamily="18" charset="0"/>
                <a:cs typeface="Times New Roman" panose="02020603050405020304" pitchFamily="18" charset="0"/>
              </a:rPr>
              <a:t>plt</a:t>
            </a:r>
            <a:r>
              <a:rPr lang="en-IN" sz="3100" dirty="0">
                <a:latin typeface="Times New Roman" panose="02020603050405020304" pitchFamily="18" charset="0"/>
                <a:cs typeface="Times New Roman" panose="02020603050405020304" pitchFamily="18" charset="0"/>
              </a:rPr>
              <a:t> </a:t>
            </a:r>
          </a:p>
          <a:p>
            <a:pPr marL="0" indent="0">
              <a:buNone/>
            </a:pPr>
            <a:r>
              <a:rPr lang="en-IN" sz="3100" dirty="0">
                <a:latin typeface="Times New Roman" panose="02020603050405020304" pitchFamily="18" charset="0"/>
                <a:cs typeface="Times New Roman" panose="02020603050405020304" pitchFamily="18" charset="0"/>
              </a:rPr>
              <a:t>from </a:t>
            </a:r>
            <a:r>
              <a:rPr lang="en-IN" sz="3100" dirty="0" err="1">
                <a:latin typeface="Times New Roman" panose="02020603050405020304" pitchFamily="18" charset="0"/>
                <a:cs typeface="Times New Roman" panose="02020603050405020304" pitchFamily="18" charset="0"/>
              </a:rPr>
              <a:t>sklearn.model_selection</a:t>
            </a:r>
            <a:r>
              <a:rPr lang="en-IN" sz="3100" dirty="0">
                <a:latin typeface="Times New Roman" panose="02020603050405020304" pitchFamily="18" charset="0"/>
                <a:cs typeface="Times New Roman" panose="02020603050405020304" pitchFamily="18" charset="0"/>
              </a:rPr>
              <a:t> import </a:t>
            </a:r>
            <a:r>
              <a:rPr lang="en-IN" sz="3100" dirty="0" err="1">
                <a:latin typeface="Times New Roman" panose="02020603050405020304" pitchFamily="18" charset="0"/>
                <a:cs typeface="Times New Roman" panose="02020603050405020304" pitchFamily="18" charset="0"/>
              </a:rPr>
              <a:t>train_test_split</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a:latin typeface="Times New Roman" panose="02020603050405020304" pitchFamily="18" charset="0"/>
                <a:cs typeface="Times New Roman" panose="02020603050405020304" pitchFamily="18" charset="0"/>
              </a:rPr>
              <a:t>from </a:t>
            </a:r>
            <a:r>
              <a:rPr lang="en-IN" sz="3100" dirty="0" err="1">
                <a:latin typeface="Times New Roman" panose="02020603050405020304" pitchFamily="18" charset="0"/>
                <a:cs typeface="Times New Roman" panose="02020603050405020304" pitchFamily="18" charset="0"/>
              </a:rPr>
              <a:t>sklearn.metrics</a:t>
            </a:r>
            <a:r>
              <a:rPr lang="en-IN" sz="3100" dirty="0">
                <a:latin typeface="Times New Roman" panose="02020603050405020304" pitchFamily="18" charset="0"/>
                <a:cs typeface="Times New Roman" panose="02020603050405020304" pitchFamily="18" charset="0"/>
              </a:rPr>
              <a:t> import </a:t>
            </a:r>
            <a:r>
              <a:rPr lang="en-IN" sz="3100" dirty="0" err="1">
                <a:latin typeface="Times New Roman" panose="02020603050405020304" pitchFamily="18" charset="0"/>
                <a:cs typeface="Times New Roman" panose="02020603050405020304" pitchFamily="18" charset="0"/>
              </a:rPr>
              <a:t>accuracy_score</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a:latin typeface="Times New Roman" panose="02020603050405020304" pitchFamily="18" charset="0"/>
                <a:cs typeface="Times New Roman" panose="02020603050405020304" pitchFamily="18" charset="0"/>
              </a:rPr>
              <a:t>from </a:t>
            </a:r>
            <a:r>
              <a:rPr lang="en-IN" sz="3100" dirty="0" err="1">
                <a:latin typeface="Times New Roman" panose="02020603050405020304" pitchFamily="18" charset="0"/>
                <a:cs typeface="Times New Roman" panose="02020603050405020304" pitchFamily="18" charset="0"/>
              </a:rPr>
              <a:t>sklearn.metrics</a:t>
            </a:r>
            <a:r>
              <a:rPr lang="en-IN" sz="3100" dirty="0">
                <a:latin typeface="Times New Roman" panose="02020603050405020304" pitchFamily="18" charset="0"/>
                <a:cs typeface="Times New Roman" panose="02020603050405020304" pitchFamily="18" charset="0"/>
              </a:rPr>
              <a:t> import </a:t>
            </a:r>
            <a:r>
              <a:rPr lang="en-IN" sz="3100" dirty="0" err="1">
                <a:latin typeface="Times New Roman" panose="02020603050405020304" pitchFamily="18" charset="0"/>
                <a:cs typeface="Times New Roman" panose="02020603050405020304" pitchFamily="18" charset="0"/>
              </a:rPr>
              <a:t>precision_score</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a:latin typeface="Times New Roman" panose="02020603050405020304" pitchFamily="18" charset="0"/>
                <a:cs typeface="Times New Roman" panose="02020603050405020304" pitchFamily="18" charset="0"/>
              </a:rPr>
              <a:t>from </a:t>
            </a:r>
            <a:r>
              <a:rPr lang="en-IN" sz="3100" dirty="0" err="1">
                <a:latin typeface="Times New Roman" panose="02020603050405020304" pitchFamily="18" charset="0"/>
                <a:cs typeface="Times New Roman" panose="02020603050405020304" pitchFamily="18" charset="0"/>
              </a:rPr>
              <a:t>sklearn.metrics</a:t>
            </a:r>
            <a:r>
              <a:rPr lang="en-IN" sz="3100" dirty="0">
                <a:latin typeface="Times New Roman" panose="02020603050405020304" pitchFamily="18" charset="0"/>
                <a:cs typeface="Times New Roman" panose="02020603050405020304" pitchFamily="18" charset="0"/>
              </a:rPr>
              <a:t> import </a:t>
            </a:r>
            <a:r>
              <a:rPr lang="en-IN" sz="3100" dirty="0" err="1">
                <a:latin typeface="Times New Roman" panose="02020603050405020304" pitchFamily="18" charset="0"/>
                <a:cs typeface="Times New Roman" panose="02020603050405020304" pitchFamily="18" charset="0"/>
              </a:rPr>
              <a:t>recall_score</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a:latin typeface="Times New Roman" panose="02020603050405020304" pitchFamily="18" charset="0"/>
                <a:cs typeface="Times New Roman" panose="02020603050405020304" pitchFamily="18" charset="0"/>
              </a:rPr>
              <a:t>from </a:t>
            </a:r>
            <a:r>
              <a:rPr lang="en-IN" sz="3100" dirty="0" err="1">
                <a:latin typeface="Times New Roman" panose="02020603050405020304" pitchFamily="18" charset="0"/>
                <a:cs typeface="Times New Roman" panose="02020603050405020304" pitchFamily="18" charset="0"/>
              </a:rPr>
              <a:t>sklearn.metrics</a:t>
            </a:r>
            <a:r>
              <a:rPr lang="en-IN" sz="3100" dirty="0">
                <a:latin typeface="Times New Roman" panose="02020603050405020304" pitchFamily="18" charset="0"/>
                <a:cs typeface="Times New Roman" panose="02020603050405020304" pitchFamily="18" charset="0"/>
              </a:rPr>
              <a:t> import f1_score</a:t>
            </a:r>
          </a:p>
          <a:p>
            <a:pPr marL="0" indent="0">
              <a:buNone/>
            </a:pPr>
            <a:r>
              <a:rPr lang="en-IN" sz="3100" dirty="0">
                <a:latin typeface="Times New Roman" panose="02020603050405020304" pitchFamily="18" charset="0"/>
                <a:cs typeface="Times New Roman" panose="02020603050405020304" pitchFamily="18" charset="0"/>
              </a:rPr>
              <a:t>from </a:t>
            </a:r>
            <a:r>
              <a:rPr lang="en-IN" sz="3100" dirty="0" err="1">
                <a:latin typeface="Times New Roman" panose="02020603050405020304" pitchFamily="18" charset="0"/>
                <a:cs typeface="Times New Roman" panose="02020603050405020304" pitchFamily="18" charset="0"/>
              </a:rPr>
              <a:t>sklearn.metrics</a:t>
            </a:r>
            <a:r>
              <a:rPr lang="en-IN" sz="3100" dirty="0">
                <a:latin typeface="Times New Roman" panose="02020603050405020304" pitchFamily="18" charset="0"/>
                <a:cs typeface="Times New Roman" panose="02020603050405020304" pitchFamily="18" charset="0"/>
              </a:rPr>
              <a:t> import </a:t>
            </a:r>
            <a:r>
              <a:rPr lang="en-IN" sz="3100" dirty="0" err="1">
                <a:latin typeface="Times New Roman" panose="02020603050405020304" pitchFamily="18" charset="0"/>
                <a:cs typeface="Times New Roman" panose="02020603050405020304" pitchFamily="18" charset="0"/>
              </a:rPr>
              <a:t>classification_report</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a:latin typeface="Times New Roman" panose="02020603050405020304" pitchFamily="18" charset="0"/>
                <a:cs typeface="Times New Roman" panose="02020603050405020304" pitchFamily="18" charset="0"/>
              </a:rPr>
              <a:t>from </a:t>
            </a:r>
            <a:r>
              <a:rPr lang="en-IN" sz="3100" dirty="0" err="1">
                <a:latin typeface="Times New Roman" panose="02020603050405020304" pitchFamily="18" charset="0"/>
                <a:cs typeface="Times New Roman" panose="02020603050405020304" pitchFamily="18" charset="0"/>
              </a:rPr>
              <a:t>sklearn.metrics</a:t>
            </a:r>
            <a:r>
              <a:rPr lang="en-IN" sz="3100" dirty="0">
                <a:latin typeface="Times New Roman" panose="02020603050405020304" pitchFamily="18" charset="0"/>
                <a:cs typeface="Times New Roman" panose="02020603050405020304" pitchFamily="18" charset="0"/>
              </a:rPr>
              <a:t> import </a:t>
            </a:r>
            <a:r>
              <a:rPr lang="en-IN" sz="3100" dirty="0" err="1">
                <a:latin typeface="Times New Roman" panose="02020603050405020304" pitchFamily="18" charset="0"/>
                <a:cs typeface="Times New Roman" panose="02020603050405020304" pitchFamily="18" charset="0"/>
              </a:rPr>
              <a:t>confusion_matrix</a:t>
            </a:r>
            <a:endParaRPr lang="en-IN" sz="31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9619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3DCEA9-81E6-D17A-8728-CFA1E1B94FAC}"/>
              </a:ext>
            </a:extLst>
          </p:cNvPr>
          <p:cNvSpPr txBox="1"/>
          <p:nvPr/>
        </p:nvSpPr>
        <p:spPr>
          <a:xfrm>
            <a:off x="886408" y="243512"/>
            <a:ext cx="8754446" cy="637097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import seaborn as </a:t>
            </a:r>
            <a:r>
              <a:rPr lang="en-IN" sz="2400" dirty="0" err="1">
                <a:latin typeface="Times New Roman" panose="02020603050405020304" pitchFamily="18" charset="0"/>
                <a:cs typeface="Times New Roman" panose="02020603050405020304" pitchFamily="18" charset="0"/>
              </a:rPr>
              <a:t>sns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skimage</a:t>
            </a:r>
            <a:r>
              <a:rPr lang="en-IN" sz="2400" dirty="0">
                <a:latin typeface="Times New Roman" panose="02020603050405020304" pitchFamily="18" charset="0"/>
                <a:cs typeface="Times New Roman" panose="02020603050405020304" pitchFamily="18" charset="0"/>
              </a:rPr>
              <a:t> import io, transform</a:t>
            </a: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sklearn</a:t>
            </a:r>
            <a:r>
              <a:rPr lang="en-IN" sz="2400" dirty="0">
                <a:latin typeface="Times New Roman" panose="02020603050405020304" pitchFamily="18" charset="0"/>
                <a:cs typeface="Times New Roman" panose="02020603050405020304" pitchFamily="18" charset="0"/>
              </a:rPr>
              <a:t> import preprocessing</a:t>
            </a:r>
          </a:p>
          <a:p>
            <a:r>
              <a:rPr lang="en-IN" sz="2400" dirty="0">
                <a:latin typeface="Times New Roman" panose="02020603050405020304" pitchFamily="18" charset="0"/>
                <a:cs typeface="Times New Roman" panose="02020603050405020304" pitchFamily="18" charset="0"/>
              </a:rPr>
              <a:t>import </a:t>
            </a:r>
            <a:r>
              <a:rPr lang="en-IN" sz="2400" dirty="0" err="1">
                <a:latin typeface="Times New Roman" panose="02020603050405020304" pitchFamily="18" charset="0"/>
                <a:cs typeface="Times New Roman" panose="02020603050405020304" pitchFamily="18" charset="0"/>
              </a:rPr>
              <a:t>joblib</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import cv2</a:t>
            </a:r>
          </a:p>
          <a:p>
            <a:r>
              <a:rPr lang="en-IN" sz="2400" dirty="0">
                <a:latin typeface="Times New Roman" panose="02020603050405020304" pitchFamily="18" charset="0"/>
                <a:cs typeface="Times New Roman" panose="02020603050405020304" pitchFamily="18" charset="0"/>
              </a:rPr>
              <a:t>import warnings</a:t>
            </a:r>
          </a:p>
          <a:p>
            <a:r>
              <a:rPr lang="en-IN" sz="2400" dirty="0" err="1">
                <a:latin typeface="Times New Roman" panose="02020603050405020304" pitchFamily="18" charset="0"/>
                <a:cs typeface="Times New Roman" panose="02020603050405020304" pitchFamily="18" charset="0"/>
              </a:rPr>
              <a:t>warnings.filterwarnings</a:t>
            </a:r>
            <a:r>
              <a:rPr lang="en-IN" sz="2400" dirty="0">
                <a:latin typeface="Times New Roman" panose="02020603050405020304" pitchFamily="18" charset="0"/>
                <a:cs typeface="Times New Roman" panose="02020603050405020304" pitchFamily="18" charset="0"/>
              </a:rPr>
              <a:t>('ignore')</a:t>
            </a: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sklearn.preprocessing</a:t>
            </a:r>
            <a:r>
              <a:rPr lang="en-IN" sz="2400" dirty="0">
                <a:latin typeface="Times New Roman" panose="02020603050405020304" pitchFamily="18" charset="0"/>
                <a:cs typeface="Times New Roman" panose="02020603050405020304" pitchFamily="18" charset="0"/>
              </a:rPr>
              <a:t> import </a:t>
            </a:r>
            <a:r>
              <a:rPr lang="en-IN" sz="2400" dirty="0" err="1">
                <a:latin typeface="Times New Roman" panose="02020603050405020304" pitchFamily="18" charset="0"/>
                <a:cs typeface="Times New Roman" panose="02020603050405020304" pitchFamily="18" charset="0"/>
              </a:rPr>
              <a:t>StandardScaler</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LabelEncoder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sklearn.svm</a:t>
            </a:r>
            <a:r>
              <a:rPr lang="en-IN" sz="2400" dirty="0">
                <a:latin typeface="Times New Roman" panose="02020603050405020304" pitchFamily="18" charset="0"/>
                <a:cs typeface="Times New Roman" panose="02020603050405020304" pitchFamily="18" charset="0"/>
              </a:rPr>
              <a:t> import SVC</a:t>
            </a: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lightgbm</a:t>
            </a:r>
            <a:r>
              <a:rPr lang="en-IN" sz="2400" dirty="0">
                <a:latin typeface="Times New Roman" panose="02020603050405020304" pitchFamily="18" charset="0"/>
                <a:cs typeface="Times New Roman" panose="02020603050405020304" pitchFamily="18" charset="0"/>
              </a:rPr>
              <a:t> import </a:t>
            </a:r>
            <a:r>
              <a:rPr lang="en-IN" sz="2400" dirty="0" err="1">
                <a:latin typeface="Times New Roman" panose="02020603050405020304" pitchFamily="18" charset="0"/>
                <a:cs typeface="Times New Roman" panose="02020603050405020304" pitchFamily="18" charset="0"/>
              </a:rPr>
              <a:t>LGBMClassifier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sklearn.discriminant_analysis</a:t>
            </a:r>
            <a:r>
              <a:rPr lang="en-IN" sz="2400" dirty="0">
                <a:latin typeface="Times New Roman" panose="02020603050405020304" pitchFamily="18" charset="0"/>
                <a:cs typeface="Times New Roman" panose="02020603050405020304" pitchFamily="18" charset="0"/>
              </a:rPr>
              <a:t> import </a:t>
            </a:r>
            <a:r>
              <a:rPr lang="en-IN" sz="2400" dirty="0" err="1">
                <a:latin typeface="Times New Roman" panose="02020603050405020304" pitchFamily="18" charset="0"/>
                <a:cs typeface="Times New Roman" panose="02020603050405020304" pitchFamily="18" charset="0"/>
              </a:rPr>
              <a:t>LinearDiscriminantAnalysis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sklearn.linear_model</a:t>
            </a:r>
            <a:r>
              <a:rPr lang="en-IN" sz="2400" dirty="0">
                <a:latin typeface="Times New Roman" panose="02020603050405020304" pitchFamily="18" charset="0"/>
                <a:cs typeface="Times New Roman" panose="02020603050405020304" pitchFamily="18" charset="0"/>
              </a:rPr>
              <a:t> import </a:t>
            </a:r>
            <a:r>
              <a:rPr lang="en-IN" sz="2400" dirty="0" err="1">
                <a:latin typeface="Times New Roman" panose="02020603050405020304" pitchFamily="18" charset="0"/>
                <a:cs typeface="Times New Roman" panose="02020603050405020304" pitchFamily="18" charset="0"/>
              </a:rPr>
              <a:t>PassiveAggressiveClassifier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tensorflow.keras.preprocessing.image</a:t>
            </a:r>
            <a:r>
              <a:rPr lang="en-IN" sz="2400" dirty="0">
                <a:latin typeface="Times New Roman" panose="02020603050405020304" pitchFamily="18" charset="0"/>
                <a:cs typeface="Times New Roman" panose="02020603050405020304" pitchFamily="18" charset="0"/>
              </a:rPr>
              <a:t> import </a:t>
            </a:r>
            <a:r>
              <a:rPr lang="en-IN" sz="2400" dirty="0" err="1">
                <a:latin typeface="Times New Roman" panose="02020603050405020304" pitchFamily="18" charset="0"/>
                <a:cs typeface="Times New Roman" panose="02020603050405020304" pitchFamily="18" charset="0"/>
              </a:rPr>
              <a:t>ImageDataGenerator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skimage.transform</a:t>
            </a:r>
            <a:r>
              <a:rPr lang="en-IN" sz="2400" dirty="0">
                <a:latin typeface="Times New Roman" panose="02020603050405020304" pitchFamily="18" charset="0"/>
                <a:cs typeface="Times New Roman" panose="02020603050405020304" pitchFamily="18" charset="0"/>
              </a:rPr>
              <a:t> import resize</a:t>
            </a:r>
          </a:p>
          <a:p>
            <a:r>
              <a:rPr lang="en-IN" sz="2400" dirty="0">
                <a:latin typeface="Times New Roman" panose="02020603050405020304" pitchFamily="18" charset="0"/>
                <a:cs typeface="Times New Roman" panose="02020603050405020304" pitchFamily="18" charset="0"/>
              </a:rPr>
              <a:t>from skimage.io import </a:t>
            </a:r>
            <a:r>
              <a:rPr lang="en-IN" sz="2400" dirty="0" err="1">
                <a:latin typeface="Times New Roman" panose="02020603050405020304" pitchFamily="18" charset="0"/>
                <a:cs typeface="Times New Roman" panose="02020603050405020304" pitchFamily="18" charset="0"/>
              </a:rPr>
              <a:t>imread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94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56E8A-6C9B-267D-9C90-15CDF24B6D90}"/>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Data Sets</a:t>
            </a:r>
          </a:p>
        </p:txBody>
      </p:sp>
      <p:pic>
        <p:nvPicPr>
          <p:cNvPr id="4" name="Content Placeholder 3">
            <a:extLst>
              <a:ext uri="{FF2B5EF4-FFF2-40B4-BE49-F238E27FC236}">
                <a16:creationId xmlns:a16="http://schemas.microsoft.com/office/drawing/2014/main" id="{5E36BD66-38B1-5FFA-2906-1256422CFB6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00560" y="2048960"/>
            <a:ext cx="5238750" cy="4333875"/>
          </a:xfrm>
          <a:prstGeom prst="rect">
            <a:avLst/>
          </a:prstGeom>
          <a:noFill/>
          <a:ln>
            <a:noFill/>
          </a:ln>
        </p:spPr>
      </p:pic>
      <p:sp>
        <p:nvSpPr>
          <p:cNvPr id="6" name="TextBox 5">
            <a:extLst>
              <a:ext uri="{FF2B5EF4-FFF2-40B4-BE49-F238E27FC236}">
                <a16:creationId xmlns:a16="http://schemas.microsoft.com/office/drawing/2014/main" id="{D19476D0-18F4-6ACF-093C-F56749AC799B}"/>
              </a:ext>
            </a:extLst>
          </p:cNvPr>
          <p:cNvSpPr txBox="1"/>
          <p:nvPr/>
        </p:nvSpPr>
        <p:spPr>
          <a:xfrm>
            <a:off x="4914901" y="1506022"/>
            <a:ext cx="6097554"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Dataset of chili </a:t>
            </a:r>
            <a:r>
              <a:rPr lang="en-IN" sz="2000" dirty="0" err="1">
                <a:latin typeface="Times New Roman" panose="02020603050405020304" pitchFamily="18" charset="0"/>
                <a:cs typeface="Times New Roman" panose="02020603050405020304" pitchFamily="18" charset="0"/>
              </a:rPr>
              <a:t>varities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9844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99721-48B6-79CA-5E11-2FBDF6FEE013}"/>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Result Analysis</a:t>
            </a:r>
            <a:endParaRPr lang="en-IN" dirty="0"/>
          </a:p>
        </p:txBody>
      </p:sp>
      <p:sp>
        <p:nvSpPr>
          <p:cNvPr id="3" name="Content Placeholder 2">
            <a:extLst>
              <a:ext uri="{FF2B5EF4-FFF2-40B4-BE49-F238E27FC236}">
                <a16:creationId xmlns:a16="http://schemas.microsoft.com/office/drawing/2014/main" id="{9B386F96-E3B8-AB63-F19D-0F8554912240}"/>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Four models (LGBM, LDA, AdaBoost, SVM) were evaluated using Accuracy, Precision, Recall, and F1-score.</a:t>
            </a:r>
          </a:p>
          <a:p>
            <a:pPr algn="just"/>
            <a:r>
              <a:rPr lang="en-US" sz="2400" dirty="0">
                <a:latin typeface="Times New Roman" panose="02020603050405020304" pitchFamily="18" charset="0"/>
                <a:cs typeface="Times New Roman" panose="02020603050405020304" pitchFamily="18" charset="0"/>
              </a:rPr>
              <a:t> The dataset is balanced across five chili classes, enabling fair model training and testing.</a:t>
            </a:r>
          </a:p>
          <a:p>
            <a:pPr algn="just"/>
            <a:r>
              <a:rPr lang="en-US" sz="2400" dirty="0">
                <a:latin typeface="Times New Roman" panose="02020603050405020304" pitchFamily="18" charset="0"/>
                <a:cs typeface="Times New Roman" panose="02020603050405020304" pitchFamily="18" charset="0"/>
              </a:rPr>
              <a:t> LGBM achieved the best performance with 98.93% accuracy, showing strong ability to classify different chili varieties.</a:t>
            </a:r>
          </a:p>
          <a:p>
            <a:pPr algn="just"/>
            <a:r>
              <a:rPr lang="en-US" sz="2400" dirty="0">
                <a:latin typeface="Times New Roman" panose="02020603050405020304" pitchFamily="18" charset="0"/>
                <a:cs typeface="Times New Roman" panose="02020603050405020304" pitchFamily="18" charset="0"/>
              </a:rPr>
              <a:t> SVM (95.20%) and LDA (96.00%) also produced good results, while AdaBoost (80.80%) showed lower performance.</a:t>
            </a:r>
          </a:p>
          <a:p>
            <a:pPr algn="just"/>
            <a:r>
              <a:rPr lang="en-US" sz="2400" dirty="0">
                <a:latin typeface="Times New Roman" panose="02020603050405020304" pitchFamily="18" charset="0"/>
                <a:cs typeface="Times New Roman" panose="02020603050405020304" pitchFamily="18" charset="0"/>
              </a:rPr>
              <a:t>Overall comparison confirms LGBM as the most effective model for chili image classification.</a:t>
            </a:r>
          </a:p>
          <a:p>
            <a:endParaRPr lang="en-IN" dirty="0"/>
          </a:p>
        </p:txBody>
      </p:sp>
    </p:spTree>
    <p:extLst>
      <p:ext uri="{BB962C8B-B14F-4D97-AF65-F5344CB8AC3E}">
        <p14:creationId xmlns:p14="http://schemas.microsoft.com/office/powerpoint/2010/main" val="2804654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D681078-FDF5-AE99-AB44-69AB4013CA90}"/>
              </a:ext>
            </a:extLst>
          </p:cNvPr>
          <p:cNvGraphicFramePr>
            <a:graphicFrameLocks noGrp="1"/>
          </p:cNvGraphicFramePr>
          <p:nvPr>
            <p:extLst>
              <p:ext uri="{D42A27DB-BD31-4B8C-83A1-F6EECF244321}">
                <p14:modId xmlns:p14="http://schemas.microsoft.com/office/powerpoint/2010/main" val="3005926742"/>
              </p:ext>
            </p:extLst>
          </p:nvPr>
        </p:nvGraphicFramePr>
        <p:xfrm>
          <a:off x="1534160" y="448944"/>
          <a:ext cx="9204960" cy="1237300"/>
        </p:xfrm>
        <a:graphic>
          <a:graphicData uri="http://schemas.openxmlformats.org/drawingml/2006/table">
            <a:tbl>
              <a:tblPr firstRow="1" firstCol="1" bandRow="1">
                <a:tableStyleId>{5C22544A-7EE6-4342-B048-85BDC9FD1C3A}</a:tableStyleId>
              </a:tblPr>
              <a:tblGrid>
                <a:gridCol w="1840992">
                  <a:extLst>
                    <a:ext uri="{9D8B030D-6E8A-4147-A177-3AD203B41FA5}">
                      <a16:colId xmlns:a16="http://schemas.microsoft.com/office/drawing/2014/main" val="1081717774"/>
                    </a:ext>
                  </a:extLst>
                </a:gridCol>
                <a:gridCol w="1840992">
                  <a:extLst>
                    <a:ext uri="{9D8B030D-6E8A-4147-A177-3AD203B41FA5}">
                      <a16:colId xmlns:a16="http://schemas.microsoft.com/office/drawing/2014/main" val="2814033364"/>
                    </a:ext>
                  </a:extLst>
                </a:gridCol>
                <a:gridCol w="1840992">
                  <a:extLst>
                    <a:ext uri="{9D8B030D-6E8A-4147-A177-3AD203B41FA5}">
                      <a16:colId xmlns:a16="http://schemas.microsoft.com/office/drawing/2014/main" val="721442393"/>
                    </a:ext>
                  </a:extLst>
                </a:gridCol>
                <a:gridCol w="1840992">
                  <a:extLst>
                    <a:ext uri="{9D8B030D-6E8A-4147-A177-3AD203B41FA5}">
                      <a16:colId xmlns:a16="http://schemas.microsoft.com/office/drawing/2014/main" val="356270101"/>
                    </a:ext>
                  </a:extLst>
                </a:gridCol>
                <a:gridCol w="1840992">
                  <a:extLst>
                    <a:ext uri="{9D8B030D-6E8A-4147-A177-3AD203B41FA5}">
                      <a16:colId xmlns:a16="http://schemas.microsoft.com/office/drawing/2014/main" val="1855379942"/>
                    </a:ext>
                  </a:extLst>
                </a:gridCol>
              </a:tblGrid>
              <a:tr h="0">
                <a:tc>
                  <a:txBody>
                    <a:bodyPr/>
                    <a:lstStyle/>
                    <a:p>
                      <a:pPr algn="ctr">
                        <a:lnSpc>
                          <a:spcPct val="150000"/>
                        </a:lnSpc>
                        <a:spcAft>
                          <a:spcPts val="800"/>
                        </a:spcAft>
                        <a:buNone/>
                      </a:pPr>
                      <a:r>
                        <a:rPr lang="en-IN" sz="1200" kern="100">
                          <a:effectLst/>
                        </a:rPr>
                        <a:t>Model</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Accuracy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Precision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Recall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F1-Score (%)</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07640599"/>
                  </a:ext>
                </a:extLst>
              </a:tr>
              <a:tr h="0">
                <a:tc>
                  <a:txBody>
                    <a:bodyPr/>
                    <a:lstStyle/>
                    <a:p>
                      <a:pPr algn="ctr">
                        <a:lnSpc>
                          <a:spcPct val="150000"/>
                        </a:lnSpc>
                        <a:spcAft>
                          <a:spcPts val="800"/>
                        </a:spcAft>
                        <a:buNone/>
                      </a:pPr>
                      <a:r>
                        <a:rPr lang="en-IN" sz="1200" kern="100">
                          <a:effectLst/>
                        </a:rPr>
                        <a:t>LGBM Classifier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dirty="0">
                          <a:effectLst/>
                        </a:rPr>
                        <a:t>98.93</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98.94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98.94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98.94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0279854"/>
                  </a:ext>
                </a:extLst>
              </a:tr>
              <a:tr h="0">
                <a:tc>
                  <a:txBody>
                    <a:bodyPr/>
                    <a:lstStyle/>
                    <a:p>
                      <a:pPr algn="ctr">
                        <a:lnSpc>
                          <a:spcPct val="150000"/>
                        </a:lnSpc>
                        <a:spcAft>
                          <a:spcPts val="800"/>
                        </a:spcAft>
                        <a:buNone/>
                      </a:pPr>
                      <a:r>
                        <a:rPr lang="en-IN" sz="1200" kern="100">
                          <a:effectLst/>
                        </a:rPr>
                        <a:t>LDA Classifier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96.00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96.40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96.16</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96.16</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713342"/>
                  </a:ext>
                </a:extLst>
              </a:tr>
              <a:tr h="0">
                <a:tc>
                  <a:txBody>
                    <a:bodyPr/>
                    <a:lstStyle/>
                    <a:p>
                      <a:pPr algn="ctr">
                        <a:lnSpc>
                          <a:spcPct val="150000"/>
                        </a:lnSpc>
                        <a:spcAft>
                          <a:spcPts val="800"/>
                        </a:spcAft>
                        <a:buNone/>
                      </a:pPr>
                      <a:r>
                        <a:rPr lang="en-IN" sz="1200" kern="100">
                          <a:effectLst/>
                        </a:rPr>
                        <a:t>AdaBoost Classifier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80.80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81.53</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81.59</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81.34</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53076519"/>
                  </a:ext>
                </a:extLst>
              </a:tr>
              <a:tr h="0">
                <a:tc>
                  <a:txBody>
                    <a:bodyPr/>
                    <a:lstStyle/>
                    <a:p>
                      <a:pPr algn="ctr">
                        <a:lnSpc>
                          <a:spcPct val="150000"/>
                        </a:lnSpc>
                        <a:spcAft>
                          <a:spcPts val="800"/>
                        </a:spcAft>
                        <a:buNone/>
                      </a:pPr>
                      <a:r>
                        <a:rPr lang="en-IN" sz="1200" kern="100">
                          <a:effectLst/>
                        </a:rPr>
                        <a:t>SVM Classifier</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95.20</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95.21</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a:effectLst/>
                        </a:rPr>
                        <a:t>95.67</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pPr>
                      <a:r>
                        <a:rPr lang="en-IN" sz="1200" kern="100" dirty="0">
                          <a:effectLst/>
                        </a:rPr>
                        <a:t>95.30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16316265"/>
                  </a:ext>
                </a:extLst>
              </a:tr>
            </a:tbl>
          </a:graphicData>
        </a:graphic>
      </p:graphicFrame>
      <p:sp>
        <p:nvSpPr>
          <p:cNvPr id="3" name="Rectangle 1">
            <a:extLst>
              <a:ext uri="{FF2B5EF4-FFF2-40B4-BE49-F238E27FC236}">
                <a16:creationId xmlns:a16="http://schemas.microsoft.com/office/drawing/2014/main" id="{60DEA589-7F3E-DCF2-0309-8ADB06A14FC9}"/>
              </a:ext>
            </a:extLst>
          </p:cNvPr>
          <p:cNvSpPr>
            <a:spLocks noChangeArrowheads="1"/>
          </p:cNvSpPr>
          <p:nvPr/>
        </p:nvSpPr>
        <p:spPr bwMode="auto">
          <a:xfrm>
            <a:off x="929640" y="44831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4" name="Picture 3">
            <a:extLst>
              <a:ext uri="{FF2B5EF4-FFF2-40B4-BE49-F238E27FC236}">
                <a16:creationId xmlns:a16="http://schemas.microsoft.com/office/drawing/2014/main" id="{5DA23D85-1989-7D7B-B339-86F60E9846C1}"/>
              </a:ext>
            </a:extLst>
          </p:cNvPr>
          <p:cNvPicPr>
            <a:picLocks noChangeAspect="1"/>
          </p:cNvPicPr>
          <p:nvPr/>
        </p:nvPicPr>
        <p:blipFill>
          <a:blip r:embed="rId2"/>
          <a:stretch>
            <a:fillRect/>
          </a:stretch>
        </p:blipFill>
        <p:spPr>
          <a:xfrm>
            <a:off x="4915852" y="2970530"/>
            <a:ext cx="3355975" cy="2766060"/>
          </a:xfrm>
          <a:prstGeom prst="rect">
            <a:avLst/>
          </a:prstGeom>
        </p:spPr>
      </p:pic>
      <p:sp>
        <p:nvSpPr>
          <p:cNvPr id="6" name="TextBox 5">
            <a:extLst>
              <a:ext uri="{FF2B5EF4-FFF2-40B4-BE49-F238E27FC236}">
                <a16:creationId xmlns:a16="http://schemas.microsoft.com/office/drawing/2014/main" id="{AE09B9D8-DA8F-EC36-2D9B-CBA250C75874}"/>
              </a:ext>
            </a:extLst>
          </p:cNvPr>
          <p:cNvSpPr txBox="1"/>
          <p:nvPr/>
        </p:nvSpPr>
        <p:spPr>
          <a:xfrm>
            <a:off x="3312160" y="5847908"/>
            <a:ext cx="6563360" cy="465705"/>
          </a:xfrm>
          <a:prstGeom prst="rect">
            <a:avLst/>
          </a:prstGeom>
          <a:noFill/>
        </p:spPr>
        <p:txBody>
          <a:bodyPr wrap="square">
            <a:spAutoFit/>
          </a:bodyPr>
          <a:lstStyle/>
          <a:p>
            <a:pPr algn="ctr">
              <a:lnSpc>
                <a:spcPct val="150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Single Image Prediction Result.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617031D-2CD1-6BCE-1B78-D43FB38660C9}"/>
              </a:ext>
            </a:extLst>
          </p:cNvPr>
          <p:cNvSpPr txBox="1"/>
          <p:nvPr/>
        </p:nvSpPr>
        <p:spPr>
          <a:xfrm>
            <a:off x="3850640" y="1797562"/>
            <a:ext cx="6563360" cy="465705"/>
          </a:xfrm>
          <a:prstGeom prst="rect">
            <a:avLst/>
          </a:prstGeom>
          <a:noFill/>
        </p:spPr>
        <p:txBody>
          <a:bodyPr wrap="square">
            <a:spAutoFit/>
          </a:bodyPr>
          <a:lstStyle/>
          <a:p>
            <a:pPr algn="ctr">
              <a:lnSpc>
                <a:spcPct val="150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Comparative Performance Analysis of Machine Learning Models.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4897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DCD2C-F87C-B970-31C9-5A558E796065}"/>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Advantages and Application</a:t>
            </a:r>
          </a:p>
        </p:txBody>
      </p:sp>
      <p:sp>
        <p:nvSpPr>
          <p:cNvPr id="3" name="Content Placeholder 2">
            <a:extLst>
              <a:ext uri="{FF2B5EF4-FFF2-40B4-BE49-F238E27FC236}">
                <a16:creationId xmlns:a16="http://schemas.microsoft.com/office/drawing/2014/main" id="{B168DFB3-255F-4EE6-1C00-54D79A8A5670}"/>
              </a:ext>
            </a:extLst>
          </p:cNvPr>
          <p:cNvSpPr>
            <a:spLocks noGrp="1"/>
          </p:cNvSpPr>
          <p:nvPr>
            <p:ph idx="1"/>
          </p:nvPr>
        </p:nvSpPr>
        <p:spPr>
          <a:xfrm>
            <a:off x="655320" y="1654176"/>
            <a:ext cx="10515600" cy="4351338"/>
          </a:xfrm>
        </p:spPr>
        <p:txBody>
          <a:bodyPr numCol="2" spcCol="324000">
            <a:normAutofit fontScale="40000" lnSpcReduction="20000"/>
          </a:bodyPr>
          <a:lstStyle/>
          <a:p>
            <a:pPr marL="0" indent="0" algn="just">
              <a:buNone/>
            </a:pPr>
            <a:r>
              <a:rPr lang="en-US" sz="5100" b="1" dirty="0">
                <a:latin typeface="Times New Roman" panose="02020603050405020304" pitchFamily="18" charset="0"/>
                <a:cs typeface="Times New Roman" panose="02020603050405020304" pitchFamily="18" charset="0"/>
              </a:rPr>
              <a:t>Applications</a:t>
            </a:r>
          </a:p>
          <a:p>
            <a:pPr marL="0" indent="0" algn="just">
              <a:buNone/>
            </a:pPr>
            <a:endParaRPr lang="en-US" sz="5100" b="1" dirty="0">
              <a:latin typeface="Times New Roman" panose="02020603050405020304" pitchFamily="18" charset="0"/>
              <a:cs typeface="Times New Roman" panose="02020603050405020304" pitchFamily="18" charset="0"/>
            </a:endParaRPr>
          </a:p>
          <a:p>
            <a:pPr algn="just"/>
            <a:r>
              <a:rPr lang="en-US" sz="5100" dirty="0">
                <a:latin typeface="Times New Roman" panose="02020603050405020304" pitchFamily="18" charset="0"/>
                <a:cs typeface="Times New Roman" panose="02020603050405020304" pitchFamily="18" charset="0"/>
              </a:rPr>
              <a:t> Automated chili sorting and grading in food processing industries.</a:t>
            </a:r>
          </a:p>
          <a:p>
            <a:pPr algn="just"/>
            <a:r>
              <a:rPr lang="en-US" sz="5100" dirty="0">
                <a:latin typeface="Times New Roman" panose="02020603050405020304" pitchFamily="18" charset="0"/>
                <a:cs typeface="Times New Roman" panose="02020603050405020304" pitchFamily="18" charset="0"/>
              </a:rPr>
              <a:t> Quality inspection systems for exporters and spice manufacturers.</a:t>
            </a:r>
          </a:p>
          <a:p>
            <a:pPr algn="just"/>
            <a:r>
              <a:rPr lang="en-US" sz="5100" dirty="0">
                <a:latin typeface="Times New Roman" panose="02020603050405020304" pitchFamily="18" charset="0"/>
                <a:cs typeface="Times New Roman" panose="02020603050405020304" pitchFamily="18" charset="0"/>
              </a:rPr>
              <a:t> Smart farming and digital agriculture platforms for crop monitoring. </a:t>
            </a:r>
          </a:p>
          <a:p>
            <a:pPr algn="just"/>
            <a:r>
              <a:rPr lang="en-US" sz="5100" dirty="0">
                <a:latin typeface="Times New Roman" panose="02020603050405020304" pitchFamily="18" charset="0"/>
                <a:cs typeface="Times New Roman" panose="02020603050405020304" pitchFamily="18" charset="0"/>
              </a:rPr>
              <a:t>Post-harvest quality assessment in warehouses and storage units.</a:t>
            </a:r>
          </a:p>
          <a:p>
            <a:pPr algn="just"/>
            <a:r>
              <a:rPr lang="en-US" sz="5100" dirty="0">
                <a:latin typeface="Times New Roman" panose="02020603050405020304" pitchFamily="18" charset="0"/>
                <a:cs typeface="Times New Roman" panose="02020603050405020304" pitchFamily="18" charset="0"/>
              </a:rPr>
              <a:t> IoT-based agricultural monitoring systems for real-time crop analysis.</a:t>
            </a:r>
          </a:p>
          <a:p>
            <a:pPr algn="just"/>
            <a:endParaRPr lang="en-US" sz="5100" dirty="0">
              <a:latin typeface="Times New Roman" panose="02020603050405020304" pitchFamily="18" charset="0"/>
              <a:cs typeface="Times New Roman" panose="02020603050405020304" pitchFamily="18" charset="0"/>
            </a:endParaRPr>
          </a:p>
          <a:p>
            <a:pPr algn="just"/>
            <a:endParaRPr lang="en-US" sz="5100" dirty="0">
              <a:latin typeface="Times New Roman" panose="02020603050405020304" pitchFamily="18" charset="0"/>
              <a:cs typeface="Times New Roman" panose="02020603050405020304" pitchFamily="18" charset="0"/>
            </a:endParaRPr>
          </a:p>
          <a:p>
            <a:pPr marL="0" indent="0" algn="just">
              <a:buNone/>
            </a:pPr>
            <a:r>
              <a:rPr lang="en-US" sz="5100" b="1" dirty="0">
                <a:latin typeface="Times New Roman" panose="02020603050405020304" pitchFamily="18" charset="0"/>
                <a:cs typeface="Times New Roman" panose="02020603050405020304" pitchFamily="18" charset="0"/>
              </a:rPr>
              <a:t>    Advantages</a:t>
            </a:r>
          </a:p>
          <a:p>
            <a:pPr marL="0" indent="0" algn="just">
              <a:buNone/>
            </a:pPr>
            <a:endParaRPr lang="en-US" sz="5100" b="1" dirty="0">
              <a:latin typeface="Times New Roman" panose="02020603050405020304" pitchFamily="18" charset="0"/>
              <a:cs typeface="Times New Roman" panose="02020603050405020304" pitchFamily="18" charset="0"/>
            </a:endParaRPr>
          </a:p>
          <a:p>
            <a:pPr algn="just"/>
            <a:r>
              <a:rPr lang="en-US" sz="5100" dirty="0">
                <a:latin typeface="Times New Roman" panose="02020603050405020304" pitchFamily="18" charset="0"/>
                <a:cs typeface="Times New Roman" panose="02020603050405020304" pitchFamily="18" charset="0"/>
              </a:rPr>
              <a:t>Enables automated and consistent chili classification, reducing human error.</a:t>
            </a:r>
          </a:p>
          <a:p>
            <a:pPr algn="just"/>
            <a:r>
              <a:rPr lang="en-US" sz="5100" dirty="0">
                <a:latin typeface="Times New Roman" panose="02020603050405020304" pitchFamily="18" charset="0"/>
                <a:cs typeface="Times New Roman" panose="02020603050405020304" pitchFamily="18" charset="0"/>
              </a:rPr>
              <a:t> Reduces inspection time and labor costs in agricultural industries.</a:t>
            </a:r>
          </a:p>
          <a:p>
            <a:pPr algn="just"/>
            <a:r>
              <a:rPr lang="en-US" sz="5100" dirty="0">
                <a:latin typeface="Times New Roman" panose="02020603050405020304" pitchFamily="18" charset="0"/>
                <a:cs typeface="Times New Roman" panose="02020603050405020304" pitchFamily="18" charset="0"/>
              </a:rPr>
              <a:t>Handles large multi-source image datasets efficiently.</a:t>
            </a:r>
          </a:p>
          <a:p>
            <a:pPr algn="just"/>
            <a:r>
              <a:rPr lang="en-US" sz="5100" dirty="0">
                <a:latin typeface="Times New Roman" panose="02020603050405020304" pitchFamily="18" charset="0"/>
                <a:cs typeface="Times New Roman" panose="02020603050405020304" pitchFamily="18" charset="0"/>
              </a:rPr>
              <a:t> Provides reliable classification under different lighting and conditions.</a:t>
            </a:r>
          </a:p>
          <a:p>
            <a:pPr algn="just"/>
            <a:r>
              <a:rPr lang="en-US" sz="5100" dirty="0">
                <a:latin typeface="Times New Roman" panose="02020603050405020304" pitchFamily="18" charset="0"/>
                <a:cs typeface="Times New Roman" panose="02020603050405020304" pitchFamily="18" charset="0"/>
              </a:rPr>
              <a:t>Supports scalable deployment for real-world agricultural applications.</a:t>
            </a:r>
          </a:p>
          <a:p>
            <a:endParaRPr lang="en-IN" dirty="0"/>
          </a:p>
        </p:txBody>
      </p:sp>
    </p:spTree>
    <p:extLst>
      <p:ext uri="{BB962C8B-B14F-4D97-AF65-F5344CB8AC3E}">
        <p14:creationId xmlns:p14="http://schemas.microsoft.com/office/powerpoint/2010/main" val="3937133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B3CE-DBDF-045A-5258-F79F7139B541}"/>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698E2AE-3DC0-F979-1919-CE173B5A8499}"/>
              </a:ext>
            </a:extLst>
          </p:cNvPr>
          <p:cNvSpPr>
            <a:spLocks noGrp="1"/>
          </p:cNvSpPr>
          <p:nvPr>
            <p:ph idx="1"/>
          </p:nvPr>
        </p:nvSpPr>
        <p:spPr/>
        <p:txBody>
          <a:bodyPr/>
          <a:lstStyle/>
          <a:p>
            <a:pPr marL="0" indent="0" algn="just">
              <a:buNone/>
            </a:pPr>
            <a:r>
              <a:rPr lang="en-US" sz="2400" dirty="0">
                <a:latin typeface="Times New Roman" panose="02020603050405020304" pitchFamily="18" charset="0"/>
                <a:cs typeface="Times New Roman" panose="02020603050405020304" pitchFamily="18" charset="0"/>
              </a:rPr>
              <a:t>This project developed an automated chili image classification system using machine learning techniques to identify different chili varieties and quality conditions. The system processes raw images through preprocessing and feature extraction to improve classification performance. Among the tested models, </a:t>
            </a:r>
            <a:r>
              <a:rPr lang="en-US" sz="2400" dirty="0" err="1">
                <a:latin typeface="Times New Roman" panose="02020603050405020304" pitchFamily="18" charset="0"/>
                <a:cs typeface="Times New Roman" panose="02020603050405020304" pitchFamily="18" charset="0"/>
              </a:rPr>
              <a:t>LightGBM</a:t>
            </a:r>
            <a:r>
              <a:rPr lang="en-US" sz="2400" dirty="0">
                <a:latin typeface="Times New Roman" panose="02020603050405020304" pitchFamily="18" charset="0"/>
                <a:cs typeface="Times New Roman" panose="02020603050405020304" pitchFamily="18" charset="0"/>
              </a:rPr>
              <a:t> achieved the best result with an accuracy of 98.93%, outperforming LDA, SVM, and AdaBoost. Overall, the system demonstrates reliable and efficient classification, making it useful for practical agricultural quality assessment.</a:t>
            </a:r>
          </a:p>
          <a:p>
            <a:endParaRPr lang="en-IN" dirty="0"/>
          </a:p>
        </p:txBody>
      </p:sp>
    </p:spTree>
    <p:extLst>
      <p:ext uri="{BB962C8B-B14F-4D97-AF65-F5344CB8AC3E}">
        <p14:creationId xmlns:p14="http://schemas.microsoft.com/office/powerpoint/2010/main" val="2561792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938B2-7A6D-3B2D-B3F5-2B96DB1B7956}"/>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23C8A64A-9DD6-FD1F-EA7A-6A38A3905DEA}"/>
              </a:ext>
            </a:extLst>
          </p:cNvPr>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 the future, the proposed chili image classification system can be enhanced by integrating advanced deep learning models such as Convolutional Neural Networks (CNNs) to automatically extract richer and more complex image features. The system can also be extended to support real-time deployment through mobile or web-based applications, allowing farmers and agricultural experts to classify chili varieties instantly using a camera. Additionally, the dataset can be expanded to include more chili varieties, crop types, and disease conditions, improving the robustness and practical usability of the system for broader agricultural quality monitoring and decision support.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7676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23913-536E-48E4-8992-B408D5A9533D}"/>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32162E3B-9153-32C5-18C0-28B6585ED267}"/>
              </a:ext>
            </a:extLst>
          </p:cNvPr>
          <p:cNvSpPr>
            <a:spLocks noGrp="1"/>
          </p:cNvSpPr>
          <p:nvPr>
            <p:ph idx="1"/>
          </p:nvPr>
        </p:nvSpPr>
        <p:spPr/>
        <p:txBody>
          <a:bodyPr>
            <a:normAutofit/>
          </a:bodyPr>
          <a:lstStyle/>
          <a:p>
            <a:pPr marL="0" indent="0" algn="just">
              <a:buNone/>
            </a:pPr>
            <a:r>
              <a:rPr lang="en-IN" sz="2400" b="1" dirty="0">
                <a:latin typeface="Times New Roman" panose="02020603050405020304" pitchFamily="18" charset="0"/>
                <a:cs typeface="Times New Roman" panose="02020603050405020304" pitchFamily="18" charset="0"/>
              </a:rPr>
              <a:t>J. Jiang, et al. </a:t>
            </a:r>
            <a:r>
              <a:rPr lang="en-IN" sz="2400" dirty="0">
                <a:latin typeface="Times New Roman" panose="02020603050405020304" pitchFamily="18" charset="0"/>
                <a:cs typeface="Times New Roman" panose="02020603050405020304" pitchFamily="18" charset="0"/>
              </a:rPr>
              <a:t>[20] Postharvest  Biology  and Technology </a:t>
            </a:r>
            <a:r>
              <a:rPr lang="en-IN" sz="2400" dirty="0" err="1">
                <a:latin typeface="Times New Roman" panose="02020603050405020304" pitchFamily="18" charset="0"/>
                <a:cs typeface="Times New Roman" panose="02020603050405020304" pitchFamily="18" charset="0"/>
              </a:rPr>
              <a:t>Nondestructive</a:t>
            </a:r>
            <a:r>
              <a:rPr lang="en-IN" sz="2400" dirty="0">
                <a:latin typeface="Times New Roman" panose="02020603050405020304" pitchFamily="18" charset="0"/>
                <a:cs typeface="Times New Roman" panose="02020603050405020304" pitchFamily="18" charset="0"/>
              </a:rPr>
              <a:t>  quality  assessment  of  chili  s using  near-infrared  hyperspectral  imaging combined with multivariate  analysis,‖  Postharvest Biol.  Technol., vol. 146, no. May, pp. 147–154, 2018. </a:t>
            </a:r>
          </a:p>
          <a:p>
            <a:pPr marL="0" indent="0" algn="just">
              <a:buNone/>
            </a:pPr>
            <a:r>
              <a:rPr lang="en-IN" sz="2400" b="1" dirty="0" err="1">
                <a:latin typeface="Times New Roman" panose="02020603050405020304" pitchFamily="18" charset="0"/>
                <a:cs typeface="Times New Roman" panose="02020603050405020304" pitchFamily="18" charset="0"/>
              </a:rPr>
              <a:t>Arsenovic</a:t>
            </a:r>
            <a:r>
              <a:rPr lang="en-IN" sz="2400" b="1" dirty="0">
                <a:latin typeface="Times New Roman" panose="02020603050405020304" pitchFamily="18" charset="0"/>
                <a:cs typeface="Times New Roman" panose="02020603050405020304" pitchFamily="18" charset="0"/>
              </a:rPr>
              <a:t>, et al. </a:t>
            </a:r>
            <a:r>
              <a:rPr lang="en-IN" sz="2400" dirty="0">
                <a:latin typeface="Times New Roman" panose="02020603050405020304" pitchFamily="18" charset="0"/>
                <a:cs typeface="Times New Roman" panose="02020603050405020304" pitchFamily="18" charset="0"/>
              </a:rPr>
              <a:t>[22] Solving Current Limitations of Deep Learning Based Approaches for Plant Disease Detection. </a:t>
            </a:r>
            <a:r>
              <a:rPr lang="en-IN" sz="2400" i="1" dirty="0">
                <a:latin typeface="Times New Roman" panose="02020603050405020304" pitchFamily="18" charset="0"/>
                <a:cs typeface="Times New Roman" panose="02020603050405020304" pitchFamily="18" charset="0"/>
              </a:rPr>
              <a:t>Symmetry</a:t>
            </a:r>
            <a:r>
              <a:rPr lang="en-IN" sz="2400" dirty="0">
                <a:latin typeface="Times New Roman" panose="02020603050405020304" pitchFamily="18" charset="0"/>
                <a:cs typeface="Times New Roman" panose="02020603050405020304" pitchFamily="18" charset="0"/>
              </a:rPr>
              <a:t> 2019, </a:t>
            </a:r>
            <a:r>
              <a:rPr lang="en-IN" sz="2400" i="1" dirty="0">
                <a:latin typeface="Times New Roman" panose="02020603050405020304" pitchFamily="18" charset="0"/>
                <a:cs typeface="Times New Roman" panose="02020603050405020304" pitchFamily="18" charset="0"/>
              </a:rPr>
              <a:t>11</a:t>
            </a:r>
            <a:r>
              <a:rPr lang="en-IN" sz="2400" dirty="0">
                <a:latin typeface="Times New Roman" panose="02020603050405020304" pitchFamily="18" charset="0"/>
                <a:cs typeface="Times New Roman" panose="02020603050405020304" pitchFamily="18" charset="0"/>
              </a:rPr>
              <a:t>, 939</a:t>
            </a:r>
          </a:p>
          <a:p>
            <a:pPr marL="0" indent="0" algn="just">
              <a:buNone/>
            </a:pPr>
            <a:r>
              <a:rPr lang="en-IN" sz="2400" b="1" dirty="0">
                <a:latin typeface="Times New Roman" panose="02020603050405020304" pitchFamily="18" charset="0"/>
                <a:cs typeface="Times New Roman" panose="02020603050405020304" pitchFamily="18" charset="0"/>
              </a:rPr>
              <a:t>Ma, et al. </a:t>
            </a:r>
            <a:r>
              <a:rPr lang="en-IN" sz="2400" dirty="0">
                <a:latin typeface="Times New Roman" panose="02020603050405020304" pitchFamily="18" charset="0"/>
                <a:cs typeface="Times New Roman" panose="02020603050405020304" pitchFamily="18" charset="0"/>
              </a:rPr>
              <a:t>[12] Chili  Object Detection Method Based on Improved YOLOv8n. </a:t>
            </a:r>
            <a:r>
              <a:rPr lang="en-IN" sz="2400" i="1" dirty="0">
                <a:latin typeface="Times New Roman" panose="02020603050405020304" pitchFamily="18" charset="0"/>
                <a:cs typeface="Times New Roman" panose="02020603050405020304" pitchFamily="18" charset="0"/>
              </a:rPr>
              <a:t>Plants</a:t>
            </a:r>
            <a:r>
              <a:rPr lang="en-IN" sz="2400" dirty="0">
                <a:latin typeface="Times New Roman" panose="02020603050405020304" pitchFamily="18" charset="0"/>
                <a:cs typeface="Times New Roman" panose="02020603050405020304" pitchFamily="18" charset="0"/>
              </a:rPr>
              <a:t> 2024, </a:t>
            </a:r>
            <a:r>
              <a:rPr lang="en-IN" sz="2400" i="1" dirty="0">
                <a:latin typeface="Times New Roman" panose="02020603050405020304" pitchFamily="18" charset="0"/>
                <a:cs typeface="Times New Roman" panose="02020603050405020304" pitchFamily="18" charset="0"/>
              </a:rPr>
              <a:t>13</a:t>
            </a:r>
            <a:r>
              <a:rPr lang="en-IN" sz="2400" dirty="0">
                <a:latin typeface="Times New Roman" panose="02020603050405020304" pitchFamily="18" charset="0"/>
                <a:cs typeface="Times New Roman" panose="02020603050405020304" pitchFamily="18" charset="0"/>
              </a:rPr>
              <a:t>, 2402. </a:t>
            </a:r>
          </a:p>
          <a:p>
            <a:pPr marL="0" indent="0" algn="just">
              <a:buNone/>
            </a:pPr>
            <a:r>
              <a:rPr lang="en-IN" sz="2400" b="1" dirty="0">
                <a:latin typeface="Times New Roman" panose="02020603050405020304" pitchFamily="18" charset="0"/>
                <a:cs typeface="Times New Roman" panose="02020603050405020304" pitchFamily="18" charset="0"/>
              </a:rPr>
              <a:t>Tai, et al. </a:t>
            </a:r>
            <a:r>
              <a:rPr lang="en-IN" sz="2400" dirty="0">
                <a:latin typeface="Times New Roman" panose="02020603050405020304" pitchFamily="18" charset="0"/>
                <a:cs typeface="Times New Roman" panose="02020603050405020304" pitchFamily="18" charset="0"/>
              </a:rPr>
              <a:t>[10] Intelligent Recognition and Automated Production of Chili s: A Review Addressing Varietal Diversity and Technological Requirements. </a:t>
            </a:r>
            <a:r>
              <a:rPr lang="en-IN" sz="2400" i="1" dirty="0">
                <a:latin typeface="Times New Roman" panose="02020603050405020304" pitchFamily="18" charset="0"/>
                <a:cs typeface="Times New Roman" panose="02020603050405020304" pitchFamily="18" charset="0"/>
              </a:rPr>
              <a:t>Agriculture</a:t>
            </a:r>
            <a:r>
              <a:rPr lang="en-IN" sz="2400" dirty="0">
                <a:latin typeface="Times New Roman" panose="02020603050405020304" pitchFamily="18" charset="0"/>
                <a:cs typeface="Times New Roman" panose="02020603050405020304" pitchFamily="18" charset="0"/>
              </a:rPr>
              <a:t> 2025, </a:t>
            </a:r>
            <a:r>
              <a:rPr lang="en-IN" sz="2400" i="1" dirty="0">
                <a:latin typeface="Times New Roman" panose="02020603050405020304" pitchFamily="18" charset="0"/>
                <a:cs typeface="Times New Roman" panose="02020603050405020304" pitchFamily="18" charset="0"/>
              </a:rPr>
              <a:t>15</a:t>
            </a:r>
            <a:r>
              <a:rPr lang="en-IN" sz="2400" dirty="0">
                <a:latin typeface="Times New Roman" panose="02020603050405020304" pitchFamily="18" charset="0"/>
                <a:cs typeface="Times New Roman" panose="02020603050405020304" pitchFamily="18" charset="0"/>
              </a:rPr>
              <a:t>, 1200. </a:t>
            </a:r>
          </a:p>
        </p:txBody>
      </p:sp>
    </p:spTree>
    <p:extLst>
      <p:ext uri="{BB962C8B-B14F-4D97-AF65-F5344CB8AC3E}">
        <p14:creationId xmlns:p14="http://schemas.microsoft.com/office/powerpoint/2010/main" val="492080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txBox="1"/>
          <p:nvPr/>
        </p:nvSpPr>
        <p:spPr>
          <a:xfrm>
            <a:off x="1993423" y="2998500"/>
            <a:ext cx="7852200" cy="8610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8800" b="1">
                <a:solidFill>
                  <a:srgbClr val="002060"/>
                </a:solidFill>
                <a:latin typeface="Times New Roman" panose="02020603050405020304" pitchFamily="18" charset="0"/>
                <a:cs typeface="Times New Roman" panose="02020603050405020304" pitchFamily="18" charset="0"/>
              </a:rPr>
              <a:t>THANK YOU</a:t>
            </a:r>
            <a:endParaRPr lang="en-US" sz="88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1195</TotalTime>
  <Words>2351</Words>
  <Application>Microsoft Office PowerPoint</Application>
  <PresentationFormat>Widescreen</PresentationFormat>
  <Paragraphs>243</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Calibri</vt:lpstr>
      <vt:lpstr>Calibri Light</vt:lpstr>
      <vt:lpstr>Times New Roman</vt:lpstr>
      <vt:lpstr>Office Theme</vt:lpstr>
      <vt:lpstr>PowerPoint Presentation</vt:lpstr>
      <vt:lpstr>Table of Content</vt:lpstr>
      <vt:lpstr>Abstract</vt:lpstr>
      <vt:lpstr>Introduction</vt:lpstr>
      <vt:lpstr>Motivation</vt:lpstr>
      <vt:lpstr>Problem Definition</vt:lpstr>
      <vt:lpstr>Literature surveys</vt:lpstr>
      <vt:lpstr>Existing Methodology</vt:lpstr>
      <vt:lpstr>Drawbacks of existing system</vt:lpstr>
      <vt:lpstr>Software Details</vt:lpstr>
      <vt:lpstr>Research Gaps</vt:lpstr>
      <vt:lpstr>Proposed Methodology</vt:lpstr>
      <vt:lpstr>Sample code</vt:lpstr>
      <vt:lpstr>PowerPoint Presentation</vt:lpstr>
      <vt:lpstr>PowerPoint Presentation</vt:lpstr>
      <vt:lpstr>Packages/Libraries</vt:lpstr>
      <vt:lpstr>PowerPoint Presentation</vt:lpstr>
      <vt:lpstr>Data Sets</vt:lpstr>
      <vt:lpstr>Result Analysis</vt:lpstr>
      <vt:lpstr>PowerPoint Presentation</vt:lpstr>
      <vt:lpstr>Advantages and Application</vt:lpstr>
      <vt:lpstr>Conclusion</vt:lpstr>
      <vt:lpstr>Future Scope</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dc:creator>
  <cp:lastModifiedBy>yes kumar</cp:lastModifiedBy>
  <cp:revision>15</cp:revision>
  <cp:lastPrinted>2026-03-12T03:04:54Z</cp:lastPrinted>
  <dcterms:created xsi:type="dcterms:W3CDTF">2025-07-23T00:59:00Z</dcterms:created>
  <dcterms:modified xsi:type="dcterms:W3CDTF">2026-04-08T17:37:21Z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CBC3A2FCCD184DE7AE4F3DA8413357FB_11</vt:lpwstr>
  </property>
  <property fmtid="{D5CDD505-2E9C-101B-9397-08002B2CF9AE}" pid="3" name="KSOProductBuildVer">
    <vt:lpwstr>1033-12.2.0.23196</vt:lpwstr>
  </property>
</Properties>
</file>